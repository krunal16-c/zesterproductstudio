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line, not the company. Say it out loud, then stop talking. The distinction between the floor and the dashboard is the whole positioning and a plant head gets it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 four is theirs before moving on. Whatever they say is your discovery. If they name a fifth one, better - write it down and use it for the rest of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It is the strategic argument. The point is not that competitors are bad, it is that their business models forbid them from helping. Say that plainly - it makes you sound fair rather than salesy.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probably said a version of this sentence yourself. Pause after reading it. Then: we built the engagement specifically so we cannot be that vendor. Next slide shows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two-week stop clause is the most important sentence in the deck. Say it slowly. No competitor will put it in writing, and it is already published on our website, which you can show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right-hand column out loud in their voice. These are quotes from real buyers. If they nod at one, that is the objection you spend the rest of the meeting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first to say these are not client logos. Volunteering it buys you more credibility than the projects themselves. If they ask for references, say plainly that they would be our first and that is reflected in the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is the close. Most buyers do not know these schemes exist - 97% of Indian MSMEs are unaware of government digitalisation schemes. Arriving with the scheme name is itself a differentiator. Never promise a net price before eligibility is confirmed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try to file you as a vision vendor, this is the correction. The diagnosis phase is the product difference - a product company has to assume it knows the answer before it walks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floor walk, never the demo. It is a far easier yes and it is worth more to you. The backtest is the strongest asset we have before we have customers - offer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from the website. It signals you will not waste their time, which is the thing this buyer values most and hears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777240"/>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ZESTER PRODUCT STUDIO   /   ENGINEERING STUDIO   /   AHMEDABAD</a:t>
            </a:r>
            <a:endParaRPr lang="en-US" sz="1100" dirty="0"/>
          </a:p>
        </p:txBody>
      </p:sp>
      <p:sp>
        <p:nvSpPr>
          <p:cNvPr id="3" name="Text 1"/>
          <p:cNvSpPr txBox="1"/>
          <p:nvPr/>
        </p:nvSpPr>
        <p:spPr>
          <a:xfrm>
            <a:off x="685800" y="1371600"/>
            <a:ext cx="10332720" cy="1371600"/>
          </a:xfrm>
          <a:prstGeom prst="rect">
            <a:avLst/>
          </a:prstGeom>
          <a:noFill/>
          <a:ln/>
        </p:spPr>
        <p:txBody>
          <a:bodyPr wrap="square" lIns="0" tIns="0" rIns="0" bIns="0" rtlCol="0" anchor="t"/>
          <a:lstStyle/>
          <a:p>
            <a:pPr indent="0" marL="0">
              <a:lnSpc>
                <a:spcPts val="4876"/>
              </a:lnSpc>
              <a:buNone/>
            </a:pPr>
            <a:r>
              <a:rPr lang="en-US" sz="4600" b="1" dirty="0">
                <a:solidFill>
                  <a:srgbClr val="EDEDEA"/>
                </a:solidFill>
                <a:latin typeface="Arial" pitchFamily="34" charset="0"/>
                <a:ea typeface="Arial" pitchFamily="34" charset="-122"/>
                <a:cs typeface="Arial" pitchFamily="34" charset="-120"/>
              </a:rPr>
              <a:t>We build AI that runs on</a:t>
            </a:r>
            <a:endParaRPr lang="en-US" sz="4600" dirty="0"/>
          </a:p>
          <a:p>
            <a:pPr indent="0" marL="0">
              <a:lnSpc>
                <a:spcPts val="4876"/>
              </a:lnSpc>
              <a:buNone/>
            </a:pPr>
            <a:r>
              <a:rPr lang="en-US" sz="4600" b="1" dirty="0">
                <a:solidFill>
                  <a:srgbClr val="EDEDEA"/>
                </a:solidFill>
                <a:latin typeface="Arial" pitchFamily="34" charset="0"/>
                <a:ea typeface="Arial" pitchFamily="34" charset="-122"/>
                <a:cs typeface="Arial" pitchFamily="34" charset="-120"/>
              </a:rPr>
              <a:t>factory floors, not in dashboards.</a:t>
            </a:r>
            <a:endParaRPr lang="en-US" sz="4600" dirty="0"/>
          </a:p>
        </p:txBody>
      </p:sp>
      <p:sp>
        <p:nvSpPr>
          <p:cNvPr id="4" name="Text 2"/>
          <p:cNvSpPr txBox="1"/>
          <p:nvPr/>
        </p:nvSpPr>
        <p:spPr>
          <a:xfrm>
            <a:off x="685800" y="3977640"/>
            <a:ext cx="7863840" cy="1280160"/>
          </a:xfrm>
          <a:prstGeom prst="rect">
            <a:avLst/>
          </a:prstGeom>
          <a:noFill/>
          <a:ln/>
        </p:spPr>
        <p:txBody>
          <a:bodyPr wrap="square" lIns="0" tIns="0" rIns="0" bIns="0" rtlCol="0" anchor="t"/>
          <a:lstStyle/>
          <a:p>
            <a:pPr indent="0" marL="0">
              <a:lnSpc>
                <a:spcPts val="2400"/>
              </a:lnSpc>
              <a:buNone/>
            </a:pPr>
            <a:r>
              <a:rPr lang="en-US" sz="1600" dirty="0">
                <a:solidFill>
                  <a:srgbClr val="9D9D97"/>
                </a:solidFill>
                <a:latin typeface="Arial" pitchFamily="34" charset="0"/>
                <a:ea typeface="Arial" pitchFamily="34" charset="-122"/>
                <a:cs typeface="Arial" pitchFamily="34" charset="-120"/>
              </a:rPr>
              <a:t>Two engineers inside your plant for six weeks. The first two weeks find the problem worth solving, with your people, on your data. The next four build it into production. You own everything we leave behind.</a:t>
            </a:r>
            <a:endParaRPr lang="en-US" sz="1600" dirty="0"/>
          </a:p>
        </p:txBody>
      </p:sp>
      <p:sp>
        <p:nvSpPr>
          <p:cNvPr id="5" name="Text 3"/>
          <p:cNvSpPr txBox="1"/>
          <p:nvPr/>
        </p:nvSpPr>
        <p:spPr>
          <a:xfrm>
            <a:off x="685800" y="5806440"/>
            <a:ext cx="7315200" cy="274320"/>
          </a:xfrm>
          <a:prstGeom prst="rect">
            <a:avLst/>
          </a:prstGeom>
          <a:noFill/>
          <a:ln/>
        </p:spPr>
        <p:txBody>
          <a:bodyPr wrap="square" lIns="0" tIns="0" rIns="0" bIns="0" rtlCol="0" anchor="ctr"/>
          <a:lstStyle/>
          <a:p>
            <a:pPr indent="0" marL="0">
              <a:buNone/>
            </a:pPr>
            <a:r>
              <a:rPr lang="en-US" sz="1000" spc="180" kern="0" dirty="0">
                <a:solidFill>
                  <a:srgbClr val="6B6B65"/>
                </a:solidFill>
                <a:latin typeface="Courier New" pitchFamily="34" charset="0"/>
                <a:ea typeface="Courier New" pitchFamily="34" charset="-122"/>
                <a:cs typeface="Courier New" pitchFamily="34" charset="-120"/>
              </a:rPr>
              <a:t>KRUNAL CHAVDA   /   FOUNDER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01   /   THE STARTING POINT</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180"/>
              </a:lnSpc>
              <a:buNone/>
            </a:pPr>
            <a:r>
              <a:rPr lang="en-US" sz="3000" b="1" dirty="0">
                <a:solidFill>
                  <a:srgbClr val="EDEDEA"/>
                </a:solidFill>
                <a:latin typeface="Arial" pitchFamily="34" charset="0"/>
                <a:ea typeface="Arial" pitchFamily="34" charset="-122"/>
                <a:cs typeface="Arial" pitchFamily="34" charset="-120"/>
              </a:rPr>
              <a:t>Every plant has one problem everyone knows about</a:t>
            </a:r>
            <a:endParaRPr lang="en-US" sz="3000" dirty="0"/>
          </a:p>
          <a:p>
            <a:pPr indent="0" marL="0">
              <a:lnSpc>
                <a:spcPts val="3180"/>
              </a:lnSpc>
              <a:buNone/>
            </a:pPr>
            <a:r>
              <a:rPr lang="en-US" sz="3000" b="1" dirty="0">
                <a:solidFill>
                  <a:srgbClr val="EDEDEA"/>
                </a:solidFill>
                <a:latin typeface="Arial" pitchFamily="34" charset="0"/>
                <a:ea typeface="Arial" pitchFamily="34" charset="-122"/>
                <a:cs typeface="Arial" pitchFamily="34" charset="-120"/>
              </a:rPr>
              <a:t>and nobody has had time to fix.</a:t>
            </a:r>
            <a:endParaRPr lang="en-US" sz="3000" dirty="0"/>
          </a:p>
        </p:txBody>
      </p:sp>
      <p:sp>
        <p:nvSpPr>
          <p:cNvPr id="4" name="Shape 2"/>
          <p:cNvSpPr/>
          <p:nvPr/>
        </p:nvSpPr>
        <p:spPr>
          <a:xfrm>
            <a:off x="685800" y="2514600"/>
            <a:ext cx="2514600" cy="2103120"/>
          </a:xfrm>
          <a:prstGeom prst="rect">
            <a:avLst/>
          </a:prstGeom>
          <a:solidFill>
            <a:srgbClr val="141416"/>
          </a:solidFill>
          <a:ln w="9525">
            <a:solidFill>
              <a:srgbClr val="2A2A2E"/>
            </a:solidFill>
            <a:prstDash val="solid"/>
          </a:ln>
        </p:spPr>
      </p:sp>
      <p:sp>
        <p:nvSpPr>
          <p:cNvPr id="5" name="Shape 3"/>
          <p:cNvSpPr/>
          <p:nvPr/>
        </p:nvSpPr>
        <p:spPr>
          <a:xfrm>
            <a:off x="905256" y="2734056"/>
            <a:ext cx="384048" cy="384048"/>
          </a:xfrm>
          <a:prstGeom prst="rect">
            <a:avLst/>
          </a:prstGeom>
          <a:solidFill>
            <a:srgbClr val="FFD400"/>
          </a:solidFill>
          <a:ln w="6350">
            <a:solidFill>
              <a:srgbClr val="FFD400"/>
            </a:solidFill>
            <a:prstDash val="solid"/>
          </a:ln>
        </p:spPr>
      </p:sp>
      <p:sp>
        <p:nvSpPr>
          <p:cNvPr id="6" name="Text 4"/>
          <p:cNvSpPr txBox="1"/>
          <p:nvPr/>
        </p:nvSpPr>
        <p:spPr>
          <a:xfrm>
            <a:off x="905256" y="2734056"/>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01</a:t>
            </a:r>
            <a:endParaRPr lang="en-US" sz="1300" dirty="0"/>
          </a:p>
        </p:txBody>
      </p:sp>
      <p:sp>
        <p:nvSpPr>
          <p:cNvPr id="7" name="Text 5"/>
          <p:cNvSpPr txBox="1"/>
          <p:nvPr/>
        </p:nvSpPr>
        <p:spPr>
          <a:xfrm>
            <a:off x="1435608" y="2734056"/>
            <a:ext cx="1645920" cy="384048"/>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Planning</a:t>
            </a:r>
            <a:endParaRPr lang="en-US" sz="1000" dirty="0"/>
          </a:p>
        </p:txBody>
      </p:sp>
      <p:sp>
        <p:nvSpPr>
          <p:cNvPr id="8" name="Text 6"/>
          <p:cNvSpPr txBox="1"/>
          <p:nvPr/>
        </p:nvSpPr>
        <p:spPr>
          <a:xfrm>
            <a:off x="905256" y="3310128"/>
            <a:ext cx="2084832" cy="118872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Changeover decisions made on experience. Schedules built on what the floor said happened, not what did.</a:t>
            </a:r>
            <a:endParaRPr lang="en-US" sz="1150" dirty="0"/>
          </a:p>
        </p:txBody>
      </p:sp>
      <p:sp>
        <p:nvSpPr>
          <p:cNvPr id="9" name="Shape 7"/>
          <p:cNvSpPr/>
          <p:nvPr/>
        </p:nvSpPr>
        <p:spPr>
          <a:xfrm>
            <a:off x="3410712" y="2514600"/>
            <a:ext cx="2514600" cy="2103120"/>
          </a:xfrm>
          <a:prstGeom prst="rect">
            <a:avLst/>
          </a:prstGeom>
          <a:solidFill>
            <a:srgbClr val="141416"/>
          </a:solidFill>
          <a:ln w="9525">
            <a:solidFill>
              <a:srgbClr val="2A2A2E"/>
            </a:solidFill>
            <a:prstDash val="solid"/>
          </a:ln>
        </p:spPr>
      </p:sp>
      <p:sp>
        <p:nvSpPr>
          <p:cNvPr id="10" name="Shape 8"/>
          <p:cNvSpPr/>
          <p:nvPr/>
        </p:nvSpPr>
        <p:spPr>
          <a:xfrm>
            <a:off x="3630168" y="2734056"/>
            <a:ext cx="384048" cy="384048"/>
          </a:xfrm>
          <a:prstGeom prst="rect">
            <a:avLst/>
          </a:prstGeom>
          <a:solidFill>
            <a:srgbClr val="FFD400"/>
          </a:solidFill>
          <a:ln w="6350">
            <a:solidFill>
              <a:srgbClr val="FFD400"/>
            </a:solidFill>
            <a:prstDash val="solid"/>
          </a:ln>
        </p:spPr>
      </p:sp>
      <p:sp>
        <p:nvSpPr>
          <p:cNvPr id="11" name="Text 9"/>
          <p:cNvSpPr txBox="1"/>
          <p:nvPr/>
        </p:nvSpPr>
        <p:spPr>
          <a:xfrm>
            <a:off x="3630168" y="2734056"/>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02</a:t>
            </a:r>
            <a:endParaRPr lang="en-US" sz="1300" dirty="0"/>
          </a:p>
        </p:txBody>
      </p:sp>
      <p:sp>
        <p:nvSpPr>
          <p:cNvPr id="12" name="Text 10"/>
          <p:cNvSpPr txBox="1"/>
          <p:nvPr/>
        </p:nvSpPr>
        <p:spPr>
          <a:xfrm>
            <a:off x="4160520" y="2734056"/>
            <a:ext cx="1645920" cy="384048"/>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Maintenance</a:t>
            </a:r>
            <a:endParaRPr lang="en-US" sz="1000" dirty="0"/>
          </a:p>
        </p:txBody>
      </p:sp>
      <p:sp>
        <p:nvSpPr>
          <p:cNvPr id="13" name="Text 11"/>
          <p:cNvSpPr txBox="1"/>
          <p:nvPr/>
        </p:nvSpPr>
        <p:spPr>
          <a:xfrm>
            <a:off x="3630168" y="3310128"/>
            <a:ext cx="2084832" cy="118872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The machine gives warning long before it stops. Nothing downstream is listening to it.</a:t>
            </a:r>
            <a:endParaRPr lang="en-US" sz="1150" dirty="0"/>
          </a:p>
        </p:txBody>
      </p:sp>
      <p:sp>
        <p:nvSpPr>
          <p:cNvPr id="14" name="Shape 12"/>
          <p:cNvSpPr/>
          <p:nvPr/>
        </p:nvSpPr>
        <p:spPr>
          <a:xfrm>
            <a:off x="6135624" y="2514600"/>
            <a:ext cx="2514600" cy="2103120"/>
          </a:xfrm>
          <a:prstGeom prst="rect">
            <a:avLst/>
          </a:prstGeom>
          <a:solidFill>
            <a:srgbClr val="141416"/>
          </a:solidFill>
          <a:ln w="9525">
            <a:solidFill>
              <a:srgbClr val="2A2A2E"/>
            </a:solidFill>
            <a:prstDash val="solid"/>
          </a:ln>
        </p:spPr>
      </p:sp>
      <p:sp>
        <p:nvSpPr>
          <p:cNvPr id="15" name="Shape 13"/>
          <p:cNvSpPr/>
          <p:nvPr/>
        </p:nvSpPr>
        <p:spPr>
          <a:xfrm>
            <a:off x="6355080" y="2734056"/>
            <a:ext cx="384048" cy="384048"/>
          </a:xfrm>
          <a:prstGeom prst="rect">
            <a:avLst/>
          </a:prstGeom>
          <a:solidFill>
            <a:srgbClr val="FFD400"/>
          </a:solidFill>
          <a:ln w="6350">
            <a:solidFill>
              <a:srgbClr val="FFD400"/>
            </a:solidFill>
            <a:prstDash val="solid"/>
          </a:ln>
        </p:spPr>
      </p:sp>
      <p:sp>
        <p:nvSpPr>
          <p:cNvPr id="16" name="Text 14"/>
          <p:cNvSpPr txBox="1"/>
          <p:nvPr/>
        </p:nvSpPr>
        <p:spPr>
          <a:xfrm>
            <a:off x="6355080" y="2734056"/>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03</a:t>
            </a:r>
            <a:endParaRPr lang="en-US" sz="1300" dirty="0"/>
          </a:p>
        </p:txBody>
      </p:sp>
      <p:sp>
        <p:nvSpPr>
          <p:cNvPr id="17" name="Text 15"/>
          <p:cNvSpPr txBox="1"/>
          <p:nvPr/>
        </p:nvSpPr>
        <p:spPr>
          <a:xfrm>
            <a:off x="6885432" y="2734056"/>
            <a:ext cx="1645920" cy="384048"/>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Knowledge</a:t>
            </a:r>
            <a:endParaRPr lang="en-US" sz="1000" dirty="0"/>
          </a:p>
        </p:txBody>
      </p:sp>
      <p:sp>
        <p:nvSpPr>
          <p:cNvPr id="18" name="Text 16"/>
          <p:cNvSpPr txBox="1"/>
          <p:nvPr/>
        </p:nvSpPr>
        <p:spPr>
          <a:xfrm>
            <a:off x="6355080" y="3310128"/>
            <a:ext cx="2084832" cy="118872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The process lives with four people. Two of them retire inside three years.</a:t>
            </a:r>
            <a:endParaRPr lang="en-US" sz="1150" dirty="0"/>
          </a:p>
        </p:txBody>
      </p:sp>
      <p:sp>
        <p:nvSpPr>
          <p:cNvPr id="19" name="Shape 17"/>
          <p:cNvSpPr/>
          <p:nvPr/>
        </p:nvSpPr>
        <p:spPr>
          <a:xfrm>
            <a:off x="8860536" y="2514600"/>
            <a:ext cx="2514600" cy="2103120"/>
          </a:xfrm>
          <a:prstGeom prst="rect">
            <a:avLst/>
          </a:prstGeom>
          <a:solidFill>
            <a:srgbClr val="141416"/>
          </a:solidFill>
          <a:ln w="9525">
            <a:solidFill>
              <a:srgbClr val="2A2A2E"/>
            </a:solidFill>
            <a:prstDash val="solid"/>
          </a:ln>
        </p:spPr>
      </p:sp>
      <p:sp>
        <p:nvSpPr>
          <p:cNvPr id="20" name="Shape 18"/>
          <p:cNvSpPr/>
          <p:nvPr/>
        </p:nvSpPr>
        <p:spPr>
          <a:xfrm>
            <a:off x="9079992" y="2734056"/>
            <a:ext cx="384048" cy="384048"/>
          </a:xfrm>
          <a:prstGeom prst="rect">
            <a:avLst/>
          </a:prstGeom>
          <a:solidFill>
            <a:srgbClr val="FFD400"/>
          </a:solidFill>
          <a:ln w="6350">
            <a:solidFill>
              <a:srgbClr val="FFD400"/>
            </a:solidFill>
            <a:prstDash val="solid"/>
          </a:ln>
        </p:spPr>
      </p:sp>
      <p:sp>
        <p:nvSpPr>
          <p:cNvPr id="21" name="Text 19"/>
          <p:cNvSpPr txBox="1"/>
          <p:nvPr/>
        </p:nvSpPr>
        <p:spPr>
          <a:xfrm>
            <a:off x="9079992" y="2734056"/>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04</a:t>
            </a:r>
            <a:endParaRPr lang="en-US" sz="1300" dirty="0"/>
          </a:p>
        </p:txBody>
      </p:sp>
      <p:sp>
        <p:nvSpPr>
          <p:cNvPr id="22" name="Text 20"/>
          <p:cNvSpPr txBox="1"/>
          <p:nvPr/>
        </p:nvSpPr>
        <p:spPr>
          <a:xfrm>
            <a:off x="9610344" y="2734056"/>
            <a:ext cx="1645920" cy="384048"/>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Quality</a:t>
            </a:r>
            <a:endParaRPr lang="en-US" sz="1000" dirty="0"/>
          </a:p>
        </p:txBody>
      </p:sp>
      <p:sp>
        <p:nvSpPr>
          <p:cNvPr id="23" name="Text 21"/>
          <p:cNvSpPr txBox="1"/>
          <p:nvPr/>
        </p:nvSpPr>
        <p:spPr>
          <a:xfrm>
            <a:off x="9079992" y="3310128"/>
            <a:ext cx="2084832" cy="118872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A defect found a full cycle downstream of the step that actually caused it.</a:t>
            </a:r>
            <a:endParaRPr lang="en-US" sz="1150" dirty="0"/>
          </a:p>
        </p:txBody>
      </p:sp>
      <p:sp>
        <p:nvSpPr>
          <p:cNvPr id="24" name="Text 22"/>
          <p:cNvSpPr txBox="1"/>
          <p:nvPr/>
        </p:nvSpPr>
        <p:spPr>
          <a:xfrm>
            <a:off x="685800" y="4937760"/>
            <a:ext cx="9601200" cy="822960"/>
          </a:xfrm>
          <a:prstGeom prst="rect">
            <a:avLst/>
          </a:prstGeom>
          <a:noFill/>
          <a:ln/>
        </p:spPr>
        <p:txBody>
          <a:bodyPr wrap="square" lIns="0" tIns="0" rIns="0" bIns="0" rtlCol="0" anchor="t"/>
          <a:lstStyle/>
          <a:p>
            <a:pPr indent="0" marL="0">
              <a:lnSpc>
                <a:spcPts val="2250"/>
              </a:lnSpc>
              <a:buNone/>
            </a:pPr>
            <a:r>
              <a:rPr lang="en-US" sz="1500" dirty="0">
                <a:solidFill>
                  <a:srgbClr val="9D9D97"/>
                </a:solidFill>
                <a:latin typeface="Arial" pitchFamily="34" charset="0"/>
                <a:ea typeface="Arial" pitchFamily="34" charset="-122"/>
                <a:cs typeface="Arial" pitchFamily="34" charset="-120"/>
              </a:rPr>
              <a:t>Identifying it was never the constraint. Your engineers are running the plant and cannot be pulled off it to go and build the fix.</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02   /   WHY IT STAYS UNFIXED</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180"/>
              </a:lnSpc>
              <a:buNone/>
            </a:pPr>
            <a:r>
              <a:rPr lang="en-US" sz="3000" b="1" dirty="0">
                <a:solidFill>
                  <a:srgbClr val="EDEDEA"/>
                </a:solidFill>
                <a:latin typeface="Arial" pitchFamily="34" charset="0"/>
                <a:ea typeface="Arial" pitchFamily="34" charset="-122"/>
                <a:cs typeface="Arial" pitchFamily="34" charset="-120"/>
              </a:rPr>
              <a:t>The market sells you everything except the thing you need.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2148840"/>
          <a:ext cx="10789920" cy="914400"/>
        </p:xfrm>
        <a:graphic>
          <a:graphicData uri="http://schemas.openxmlformats.org/drawingml/2006/table">
            <a:tbl>
              <a:tblPr/>
              <a:tblGrid>
                <a:gridCol w="2286000"/>
                <a:gridCol w="2743200"/>
                <a:gridCol w="5760720"/>
              </a:tblGrid>
              <a:tr h="310896">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WHO YOU CAN CALL</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WHAT THEY SELL</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WHY IT DOES NOT FIT</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200" b="1" dirty="0">
                          <a:solidFill>
                            <a:srgbClr val="EDEDEA"/>
                          </a:solidFill>
                          <a:latin typeface="Arial" pitchFamily="34" charset="0"/>
                          <a:ea typeface="Arial" pitchFamily="34" charset="-122"/>
                          <a:cs typeface="Arial" pitchFamily="34" charset="-120"/>
                        </a:rPr>
                        <a:t>AI product companies</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00" dirty="0">
                          <a:solidFill>
                            <a:srgbClr val="9D9D97"/>
                          </a:solidFill>
                          <a:latin typeface="Arial" pitchFamily="34" charset="0"/>
                          <a:ea typeface="Arial" pitchFamily="34" charset="-122"/>
                          <a:cs typeface="Arial" pitchFamily="34" charset="-120"/>
                        </a:rPr>
                        <a:t>A licence, per plant, per year</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00" dirty="0">
                          <a:solidFill>
                            <a:srgbClr val="9D9D97"/>
                          </a:solidFill>
                          <a:latin typeface="Arial" pitchFamily="34" charset="0"/>
                          <a:ea typeface="Arial" pitchFamily="34" charset="-122"/>
                          <a:cs typeface="Arial" pitchFamily="34" charset="-120"/>
                        </a:rPr>
                        <a:t>They can only build what repeats across a hundred plants. Your problem is specific to your line, so it is not worth their while at any price.</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200" b="1" dirty="0">
                          <a:solidFill>
                            <a:srgbClr val="EDEDEA"/>
                          </a:solidFill>
                          <a:latin typeface="Arial" pitchFamily="34" charset="0"/>
                          <a:ea typeface="Arial" pitchFamily="34" charset="-122"/>
                          <a:cs typeface="Arial" pitchFamily="34" charset="-120"/>
                        </a:rPr>
                        <a:t>Large services firms</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00" dirty="0">
                          <a:solidFill>
                            <a:srgbClr val="9D9D97"/>
                          </a:solidFill>
                          <a:latin typeface="Arial" pitchFamily="34" charset="0"/>
                          <a:ea typeface="Arial" pitchFamily="34" charset="-122"/>
                          <a:cs typeface="Arial" pitchFamily="34" charset="-120"/>
                        </a:rPr>
                        <a:t>Multi-year transformation programmes</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00" dirty="0">
                          <a:solidFill>
                            <a:srgbClr val="9D9D97"/>
                          </a:solidFill>
                          <a:latin typeface="Arial" pitchFamily="34" charset="0"/>
                          <a:ea typeface="Arial" pitchFamily="34" charset="-122"/>
                          <a:cs typeface="Arial" pitchFamily="34" charset="-120"/>
                        </a:rPr>
                        <a:t>Deals start near a crore. You get a roadmap, and the engineers who wrote it move to the next account.</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200" b="1" dirty="0">
                          <a:solidFill>
                            <a:srgbClr val="EDEDEA"/>
                          </a:solidFill>
                          <a:latin typeface="Arial" pitchFamily="34" charset="0"/>
                          <a:ea typeface="Arial" pitchFamily="34" charset="-122"/>
                          <a:cs typeface="Arial" pitchFamily="34" charset="-120"/>
                        </a:rPr>
                        <a:t>Local automation houses</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00" dirty="0">
                          <a:solidFill>
                            <a:srgbClr val="9D9D97"/>
                          </a:solidFill>
                          <a:latin typeface="Arial" pitchFamily="34" charset="0"/>
                          <a:ea typeface="Arial" pitchFamily="34" charset="-122"/>
                          <a:cs typeface="Arial" pitchFamily="34" charset="-120"/>
                        </a:rPr>
                        <a:t>Panels, PLC, SCADA</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00" dirty="0">
                          <a:solidFill>
                            <a:srgbClr val="9D9D97"/>
                          </a:solidFill>
                          <a:latin typeface="Arial" pitchFamily="34" charset="0"/>
                          <a:ea typeface="Arial" pitchFamily="34" charset="-122"/>
                          <a:cs typeface="Arial" pitchFamily="34" charset="-120"/>
                        </a:rPr>
                        <a:t>Excellent at wiring a plant. They do not train models or build data pipelines.</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200" b="1" dirty="0">
                          <a:solidFill>
                            <a:srgbClr val="FFD400"/>
                          </a:solidFill>
                          <a:latin typeface="Arial" pitchFamily="34" charset="0"/>
                          <a:ea typeface="Arial" pitchFamily="34" charset="-122"/>
                          <a:cs typeface="Arial" pitchFamily="34" charset="-120"/>
                        </a:rPr>
                        <a:t>Nobody</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00" dirty="0">
                          <a:solidFill>
                            <a:srgbClr val="FFD400"/>
                          </a:solidFill>
                          <a:latin typeface="Arial" pitchFamily="34" charset="0"/>
                          <a:ea typeface="Arial" pitchFamily="34" charset="-122"/>
                          <a:cs typeface="Arial" pitchFamily="34" charset="-120"/>
                        </a:rPr>
                        <a:t>Two engineers, six weeks, one working system</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00" dirty="0">
                          <a:solidFill>
                            <a:srgbClr val="FFD400"/>
                          </a:solidFill>
                          <a:latin typeface="Arial" pitchFamily="34" charset="0"/>
                          <a:ea typeface="Arial" pitchFamily="34" charset="-122"/>
                          <a:cs typeface="Arial" pitchFamily="34" charset="-120"/>
                        </a:rPr>
                        <a:t>This is the gap. It is the only reason we exist.</a:t>
                      </a:r>
                      <a:endParaRPr lang="en-US" sz="120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65836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03   /   WHAT YOU HAVE HEARD BEFORE</a:t>
            </a:r>
            <a:endParaRPr lang="en-US" sz="1100" dirty="0"/>
          </a:p>
        </p:txBody>
      </p:sp>
      <p:sp>
        <p:nvSpPr>
          <p:cNvPr id="3" name="Shape 1"/>
          <p:cNvSpPr/>
          <p:nvPr/>
        </p:nvSpPr>
        <p:spPr>
          <a:xfrm>
            <a:off x="685800" y="1280160"/>
            <a:ext cx="10789920" cy="1920240"/>
          </a:xfrm>
          <a:prstGeom prst="rect">
            <a:avLst/>
          </a:prstGeom>
          <a:solidFill>
            <a:srgbClr val="1C1C20"/>
          </a:solidFill>
          <a:ln w="9525">
            <a:solidFill>
              <a:srgbClr val="2A2A2E"/>
            </a:solidFill>
            <a:prstDash val="solid"/>
          </a:ln>
        </p:spPr>
      </p:sp>
      <p:sp>
        <p:nvSpPr>
          <p:cNvPr id="4" name="Text 2"/>
          <p:cNvSpPr txBox="1"/>
          <p:nvPr/>
        </p:nvSpPr>
        <p:spPr>
          <a:xfrm>
            <a:off x="1188720" y="1600200"/>
            <a:ext cx="9784080" cy="1280160"/>
          </a:xfrm>
          <a:prstGeom prst="rect">
            <a:avLst/>
          </a:prstGeom>
          <a:noFill/>
          <a:ln/>
        </p:spPr>
        <p:txBody>
          <a:bodyPr wrap="square" lIns="0" tIns="0" rIns="0" bIns="0" rtlCol="0" anchor="ctr"/>
          <a:lstStyle/>
          <a:p>
            <a:pPr indent="0" marL="0">
              <a:lnSpc>
                <a:spcPts val="3800"/>
              </a:lnSpc>
              <a:buNone/>
            </a:pPr>
            <a:r>
              <a:rPr lang="en-US" sz="2800" b="1" dirty="0">
                <a:solidFill>
                  <a:srgbClr val="EDEDEA"/>
                </a:solidFill>
                <a:latin typeface="Arial" pitchFamily="34" charset="0"/>
                <a:ea typeface="Arial" pitchFamily="34" charset="-122"/>
                <a:cs typeface="Arial" pitchFamily="34" charset="-120"/>
              </a:rPr>
              <a:t>"The consultant did a great pilot but did not have</a:t>
            </a:r>
            <a:endParaRPr lang="en-US" sz="2800" dirty="0"/>
          </a:p>
          <a:p>
            <a:pPr indent="0" marL="0">
              <a:lnSpc>
                <a:spcPts val="3800"/>
              </a:lnSpc>
              <a:buNone/>
            </a:pPr>
            <a:r>
              <a:rPr lang="en-US" sz="2800" b="1" dirty="0">
                <a:solidFill>
                  <a:srgbClr val="EDEDEA"/>
                </a:solidFill>
                <a:latin typeface="Arial" pitchFamily="34" charset="0"/>
                <a:ea typeface="Arial" pitchFamily="34" charset="-122"/>
                <a:cs typeface="Arial" pitchFamily="34" charset="-120"/>
              </a:rPr>
              <a:t>any idea about how to scale it."</a:t>
            </a:r>
            <a:endParaRPr lang="en-US" sz="2800" dirty="0"/>
          </a:p>
        </p:txBody>
      </p:sp>
      <p:sp>
        <p:nvSpPr>
          <p:cNvPr id="5" name="Text 3"/>
          <p:cNvSpPr txBox="1"/>
          <p:nvPr/>
        </p:nvSpPr>
        <p:spPr>
          <a:xfrm>
            <a:off x="1188720" y="2761488"/>
            <a:ext cx="9144000" cy="274320"/>
          </a:xfrm>
          <a:prstGeom prst="rect">
            <a:avLst/>
          </a:prstGeom>
          <a:noFill/>
          <a:ln/>
        </p:spPr>
        <p:txBody>
          <a:bodyPr wrap="square" lIns="0" tIns="0" rIns="0" bIns="0" rtlCol="0" anchor="ctr"/>
          <a:lstStyle/>
          <a:p>
            <a:pPr indent="0" marL="0">
              <a:buNone/>
            </a:pPr>
            <a:r>
              <a:rPr lang="en-US" sz="1000" spc="120" kern="0" dirty="0">
                <a:solidFill>
                  <a:srgbClr val="FFD400"/>
                </a:solidFill>
                <a:latin typeface="Courier New" pitchFamily="34" charset="0"/>
                <a:ea typeface="Courier New" pitchFamily="34" charset="-122"/>
                <a:cs typeface="Courier New" pitchFamily="34" charset="-120"/>
              </a:rPr>
              <a:t>PwC, Unlocking the AI Edge for MSMEs, March 2026</a:t>
            </a:r>
            <a:endParaRPr lang="en-US" sz="1000" dirty="0"/>
          </a:p>
        </p:txBody>
      </p:sp>
      <p:sp>
        <p:nvSpPr>
          <p:cNvPr id="6" name="Shape 4"/>
          <p:cNvSpPr/>
          <p:nvPr/>
        </p:nvSpPr>
        <p:spPr>
          <a:xfrm>
            <a:off x="685800" y="3611880"/>
            <a:ext cx="3474720" cy="2103120"/>
          </a:xfrm>
          <a:prstGeom prst="rect">
            <a:avLst/>
          </a:prstGeom>
          <a:solidFill>
            <a:srgbClr val="141416"/>
          </a:solidFill>
          <a:ln w="9525">
            <a:solidFill>
              <a:srgbClr val="2A2A2E"/>
            </a:solidFill>
            <a:prstDash val="solid"/>
          </a:ln>
        </p:spPr>
      </p:sp>
      <p:sp>
        <p:nvSpPr>
          <p:cNvPr id="7" name="Text 5"/>
          <p:cNvSpPr txBox="1"/>
          <p:nvPr/>
        </p:nvSpPr>
        <p:spPr>
          <a:xfrm>
            <a:off x="923544" y="381304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70%</a:t>
            </a:r>
            <a:endParaRPr lang="en-US" sz="3400" dirty="0"/>
          </a:p>
        </p:txBody>
      </p:sp>
      <p:sp>
        <p:nvSpPr>
          <p:cNvPr id="8" name="Text 6"/>
          <p:cNvSpPr txBox="1"/>
          <p:nvPr/>
        </p:nvSpPr>
        <p:spPr>
          <a:xfrm>
            <a:off x="923544" y="450799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HAVE AN AI INITIATIVE</a:t>
            </a:r>
            <a:endParaRPr lang="en-US" sz="950" dirty="0"/>
          </a:p>
        </p:txBody>
      </p:sp>
      <p:sp>
        <p:nvSpPr>
          <p:cNvPr id="9" name="Text 7"/>
          <p:cNvSpPr txBox="1"/>
          <p:nvPr/>
        </p:nvSpPr>
        <p:spPr>
          <a:xfrm>
            <a:off x="923544" y="4800600"/>
            <a:ext cx="3017520" cy="73152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Roughly seven in ten manufacturers already have something running somewhere in the business.</a:t>
            </a:r>
            <a:endParaRPr lang="en-US" sz="1150" dirty="0"/>
          </a:p>
        </p:txBody>
      </p:sp>
      <p:sp>
        <p:nvSpPr>
          <p:cNvPr id="10" name="Shape 8"/>
          <p:cNvSpPr/>
          <p:nvPr/>
        </p:nvSpPr>
        <p:spPr>
          <a:xfrm>
            <a:off x="4343400" y="3611880"/>
            <a:ext cx="3474720" cy="2103120"/>
          </a:xfrm>
          <a:prstGeom prst="rect">
            <a:avLst/>
          </a:prstGeom>
          <a:solidFill>
            <a:srgbClr val="141416"/>
          </a:solidFill>
          <a:ln w="9525">
            <a:solidFill>
              <a:srgbClr val="2A2A2E"/>
            </a:solidFill>
            <a:prstDash val="solid"/>
          </a:ln>
        </p:spPr>
      </p:sp>
      <p:sp>
        <p:nvSpPr>
          <p:cNvPr id="11" name="Text 9"/>
          <p:cNvSpPr txBox="1"/>
          <p:nvPr/>
        </p:nvSpPr>
        <p:spPr>
          <a:xfrm>
            <a:off x="4581144" y="381304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1 in 3</a:t>
            </a:r>
            <a:endParaRPr lang="en-US" sz="3400" dirty="0"/>
          </a:p>
        </p:txBody>
      </p:sp>
      <p:sp>
        <p:nvSpPr>
          <p:cNvPr id="12" name="Text 10"/>
          <p:cNvSpPr txBox="1"/>
          <p:nvPr/>
        </p:nvSpPr>
        <p:spPr>
          <a:xfrm>
            <a:off x="4581144" y="450799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REACH PRODUCTION</a:t>
            </a:r>
            <a:endParaRPr lang="en-US" sz="950" dirty="0"/>
          </a:p>
        </p:txBody>
      </p:sp>
      <p:sp>
        <p:nvSpPr>
          <p:cNvPr id="13" name="Text 11"/>
          <p:cNvSpPr txBox="1"/>
          <p:nvPr/>
        </p:nvSpPr>
        <p:spPr>
          <a:xfrm>
            <a:off x="4581144" y="4800600"/>
            <a:ext cx="3017520" cy="73152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Only about a third of those initiatives ever get past pilot and into daily use.</a:t>
            </a:r>
            <a:endParaRPr lang="en-US" sz="1150" dirty="0"/>
          </a:p>
        </p:txBody>
      </p:sp>
      <p:sp>
        <p:nvSpPr>
          <p:cNvPr id="14" name="Shape 12"/>
          <p:cNvSpPr/>
          <p:nvPr/>
        </p:nvSpPr>
        <p:spPr>
          <a:xfrm>
            <a:off x="8001000" y="3611880"/>
            <a:ext cx="3474720" cy="2103120"/>
          </a:xfrm>
          <a:prstGeom prst="rect">
            <a:avLst/>
          </a:prstGeom>
          <a:solidFill>
            <a:srgbClr val="141416"/>
          </a:solidFill>
          <a:ln w="9525">
            <a:solidFill>
              <a:srgbClr val="2A2A2E"/>
            </a:solidFill>
            <a:prstDash val="solid"/>
          </a:ln>
        </p:spPr>
      </p:sp>
      <p:sp>
        <p:nvSpPr>
          <p:cNvPr id="15" name="Text 13"/>
          <p:cNvSpPr txBox="1"/>
          <p:nvPr/>
        </p:nvSpPr>
        <p:spPr>
          <a:xfrm>
            <a:off x="8238744" y="381304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91%</a:t>
            </a:r>
            <a:endParaRPr lang="en-US" sz="3400" dirty="0"/>
          </a:p>
        </p:txBody>
      </p:sp>
      <p:sp>
        <p:nvSpPr>
          <p:cNvPr id="16" name="Text 14"/>
          <p:cNvSpPr txBox="1"/>
          <p:nvPr/>
        </p:nvSpPr>
        <p:spPr>
          <a:xfrm>
            <a:off x="8238744" y="450799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SAY COST DECIDES</a:t>
            </a:r>
            <a:endParaRPr lang="en-US" sz="950" dirty="0"/>
          </a:p>
        </p:txBody>
      </p:sp>
      <p:sp>
        <p:nvSpPr>
          <p:cNvPr id="17" name="Text 15"/>
          <p:cNvSpPr txBox="1"/>
          <p:nvPr/>
        </p:nvSpPr>
        <p:spPr>
          <a:xfrm>
            <a:off x="8238744" y="4800600"/>
            <a:ext cx="3017520" cy="73152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Affordability, not appetite, is what determines whether an Indian MSME adopts.</a:t>
            </a:r>
            <a:endParaRPr lang="en-US" sz="1150" dirty="0"/>
          </a:p>
        </p:txBody>
      </p:sp>
      <p:sp>
        <p:nvSpPr>
          <p:cNvPr id="18" name="Text 16"/>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850" spc="60" kern="0" dirty="0">
                <a:solidFill>
                  <a:srgbClr val="6B6B65"/>
                </a:solidFill>
                <a:latin typeface="Courier New" pitchFamily="34" charset="0"/>
                <a:ea typeface="Courier New" pitchFamily="34" charset="-122"/>
                <a:cs typeface="Courier New" pitchFamily="34" charset="-120"/>
              </a:rPr>
              <a:t>Sources: PwC (Mar 2026) · ManufacturingTomorrow (May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04   /   THE ENGAGEMENT</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604"/>
              </a:lnSpc>
              <a:buNone/>
            </a:pPr>
            <a:r>
              <a:rPr lang="en-US" sz="3400" b="1" dirty="0">
                <a:solidFill>
                  <a:srgbClr val="EDEDEA"/>
                </a:solidFill>
                <a:latin typeface="Arial" pitchFamily="34" charset="0"/>
                <a:ea typeface="Arial" pitchFamily="34" charset="-122"/>
                <a:cs typeface="Arial" pitchFamily="34" charset="-120"/>
              </a:rPr>
              <a:t>Six weeks. Fixed price. Fixed end date.</a:t>
            </a:r>
            <a:endParaRPr lang="en-US" sz="3400" dirty="0"/>
          </a:p>
        </p:txBody>
      </p:sp>
      <p:sp>
        <p:nvSpPr>
          <p:cNvPr id="4" name="Shape 2"/>
          <p:cNvSpPr/>
          <p:nvPr/>
        </p:nvSpPr>
        <p:spPr>
          <a:xfrm>
            <a:off x="685800" y="2011680"/>
            <a:ext cx="5303520" cy="2286000"/>
          </a:xfrm>
          <a:prstGeom prst="rect">
            <a:avLst/>
          </a:prstGeom>
          <a:solidFill>
            <a:srgbClr val="141416"/>
          </a:solidFill>
          <a:ln w="9525">
            <a:solidFill>
              <a:srgbClr val="2A2A2E"/>
            </a:solidFill>
            <a:prstDash val="solid"/>
          </a:ln>
        </p:spPr>
      </p:sp>
      <p:sp>
        <p:nvSpPr>
          <p:cNvPr id="5" name="Shape 3"/>
          <p:cNvSpPr/>
          <p:nvPr/>
        </p:nvSpPr>
        <p:spPr>
          <a:xfrm>
            <a:off x="914400" y="2240280"/>
            <a:ext cx="384048" cy="384048"/>
          </a:xfrm>
          <a:prstGeom prst="rect">
            <a:avLst/>
          </a:prstGeom>
          <a:solidFill>
            <a:srgbClr val="FFD400"/>
          </a:solidFill>
          <a:ln w="6350">
            <a:solidFill>
              <a:srgbClr val="FFD400"/>
            </a:solidFill>
            <a:prstDash val="solid"/>
          </a:ln>
        </p:spPr>
      </p:sp>
      <p:sp>
        <p:nvSpPr>
          <p:cNvPr id="6" name="Text 4"/>
          <p:cNvSpPr txBox="1"/>
          <p:nvPr/>
        </p:nvSpPr>
        <p:spPr>
          <a:xfrm>
            <a:off x="914400" y="224028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1</a:t>
            </a:r>
            <a:endParaRPr lang="en-US" sz="1300" dirty="0"/>
          </a:p>
        </p:txBody>
      </p:sp>
      <p:sp>
        <p:nvSpPr>
          <p:cNvPr id="7" name="Text 5"/>
          <p:cNvSpPr txBox="1"/>
          <p:nvPr/>
        </p:nvSpPr>
        <p:spPr>
          <a:xfrm>
            <a:off x="1463040" y="2240280"/>
            <a:ext cx="4206240" cy="384048"/>
          </a:xfrm>
          <a:prstGeom prst="rect">
            <a:avLst/>
          </a:prstGeom>
          <a:noFill/>
          <a:ln/>
        </p:spPr>
        <p:txBody>
          <a:bodyPr wrap="square" lIns="0" tIns="0" rIns="0" bIns="0" rtlCol="0" anchor="ctr"/>
          <a:lstStyle/>
          <a:p>
            <a:pPr indent="0" marL="0">
              <a:buNone/>
            </a:pPr>
            <a:r>
              <a:rPr lang="en-US" sz="1050" spc="140" kern="0" dirty="0">
                <a:solidFill>
                  <a:srgbClr val="FFD400"/>
                </a:solidFill>
                <a:latin typeface="Courier New" pitchFamily="34" charset="0"/>
                <a:ea typeface="Courier New" pitchFamily="34" charset="-122"/>
                <a:cs typeface="Courier New" pitchFamily="34" charset="-120"/>
              </a:rPr>
              <a:t>WEEKS 1 TO 2   /   FIND</a:t>
            </a:r>
            <a:endParaRPr lang="en-US" sz="1050" dirty="0"/>
          </a:p>
        </p:txBody>
      </p:sp>
      <p:sp>
        <p:nvSpPr>
          <p:cNvPr id="8" name="Text 6"/>
          <p:cNvSpPr txBox="1"/>
          <p:nvPr/>
        </p:nvSpPr>
        <p:spPr>
          <a:xfrm>
            <a:off x="914400" y="2834640"/>
            <a:ext cx="4846320" cy="1280160"/>
          </a:xfrm>
          <a:prstGeom prst="rect">
            <a:avLst/>
          </a:prstGeom>
          <a:noFill/>
          <a:ln/>
        </p:spPr>
        <p:txBody>
          <a:bodyPr wrap="square" lIns="0" tIns="0" rIns="0" bIns="0" rtlCol="0" anchor="t"/>
          <a:lstStyle/>
          <a:p>
            <a:pPr indent="0" marL="0">
              <a:lnSpc>
                <a:spcPts val="1950"/>
              </a:lnSpc>
              <a:buNone/>
            </a:pPr>
            <a:r>
              <a:rPr lang="en-US" sz="1300" dirty="0">
                <a:solidFill>
                  <a:srgbClr val="9D9D97"/>
                </a:solidFill>
                <a:latin typeface="Arial" pitchFamily="34" charset="0"/>
                <a:ea typeface="Arial" pitchFamily="34" charset="-122"/>
                <a:cs typeface="Arial" pitchFamily="34" charset="-120"/>
              </a:rPr>
              <a:t>Two of our engineers on your floor, with your people, on your data. We come back with the three problems worth building. You pick one.</a:t>
            </a:r>
            <a:endParaRPr lang="en-US" sz="1300" dirty="0"/>
          </a:p>
        </p:txBody>
      </p:sp>
      <p:sp>
        <p:nvSpPr>
          <p:cNvPr id="9" name="Shape 7"/>
          <p:cNvSpPr/>
          <p:nvPr/>
        </p:nvSpPr>
        <p:spPr>
          <a:xfrm>
            <a:off x="6172200" y="2011680"/>
            <a:ext cx="5303520" cy="2286000"/>
          </a:xfrm>
          <a:prstGeom prst="rect">
            <a:avLst/>
          </a:prstGeom>
          <a:solidFill>
            <a:srgbClr val="141416"/>
          </a:solidFill>
          <a:ln w="9525">
            <a:solidFill>
              <a:srgbClr val="2A2A2E"/>
            </a:solidFill>
            <a:prstDash val="solid"/>
          </a:ln>
        </p:spPr>
      </p:sp>
      <p:sp>
        <p:nvSpPr>
          <p:cNvPr id="10" name="Shape 8"/>
          <p:cNvSpPr/>
          <p:nvPr/>
        </p:nvSpPr>
        <p:spPr>
          <a:xfrm>
            <a:off x="6400800" y="2240280"/>
            <a:ext cx="384048" cy="384048"/>
          </a:xfrm>
          <a:prstGeom prst="rect">
            <a:avLst/>
          </a:prstGeom>
          <a:solidFill>
            <a:srgbClr val="FFD400"/>
          </a:solidFill>
          <a:ln w="6350">
            <a:solidFill>
              <a:srgbClr val="FFD400"/>
            </a:solidFill>
            <a:prstDash val="solid"/>
          </a:ln>
        </p:spPr>
      </p:sp>
      <p:sp>
        <p:nvSpPr>
          <p:cNvPr id="11" name="Text 9"/>
          <p:cNvSpPr txBox="1"/>
          <p:nvPr/>
        </p:nvSpPr>
        <p:spPr>
          <a:xfrm>
            <a:off x="6400800" y="224028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2</a:t>
            </a:r>
            <a:endParaRPr lang="en-US" sz="1300" dirty="0"/>
          </a:p>
        </p:txBody>
      </p:sp>
      <p:sp>
        <p:nvSpPr>
          <p:cNvPr id="12" name="Text 10"/>
          <p:cNvSpPr txBox="1"/>
          <p:nvPr/>
        </p:nvSpPr>
        <p:spPr>
          <a:xfrm>
            <a:off x="6949440" y="2240280"/>
            <a:ext cx="4206240" cy="384048"/>
          </a:xfrm>
          <a:prstGeom prst="rect">
            <a:avLst/>
          </a:prstGeom>
          <a:noFill/>
          <a:ln/>
        </p:spPr>
        <p:txBody>
          <a:bodyPr wrap="square" lIns="0" tIns="0" rIns="0" bIns="0" rtlCol="0" anchor="ctr"/>
          <a:lstStyle/>
          <a:p>
            <a:pPr indent="0" marL="0">
              <a:buNone/>
            </a:pPr>
            <a:r>
              <a:rPr lang="en-US" sz="1050" spc="140" kern="0" dirty="0">
                <a:solidFill>
                  <a:srgbClr val="FFD400"/>
                </a:solidFill>
                <a:latin typeface="Courier New" pitchFamily="34" charset="0"/>
                <a:ea typeface="Courier New" pitchFamily="34" charset="-122"/>
                <a:cs typeface="Courier New" pitchFamily="34" charset="-120"/>
              </a:rPr>
              <a:t>WEEKS 3 TO 6   /   BUILD</a:t>
            </a:r>
            <a:endParaRPr lang="en-US" sz="1050" dirty="0"/>
          </a:p>
        </p:txBody>
      </p:sp>
      <p:sp>
        <p:nvSpPr>
          <p:cNvPr id="13" name="Text 11"/>
          <p:cNvSpPr txBox="1"/>
          <p:nvPr/>
        </p:nvSpPr>
        <p:spPr>
          <a:xfrm>
            <a:off x="6400800" y="2834640"/>
            <a:ext cx="4846320" cy="1280160"/>
          </a:xfrm>
          <a:prstGeom prst="rect">
            <a:avLst/>
          </a:prstGeom>
          <a:noFill/>
          <a:ln/>
        </p:spPr>
        <p:txBody>
          <a:bodyPr wrap="square" lIns="0" tIns="0" rIns="0" bIns="0" rtlCol="0" anchor="t"/>
          <a:lstStyle/>
          <a:p>
            <a:pPr indent="0" marL="0">
              <a:lnSpc>
                <a:spcPts val="1950"/>
              </a:lnSpc>
              <a:buNone/>
            </a:pPr>
            <a:r>
              <a:rPr lang="en-US" sz="1300" dirty="0">
                <a:solidFill>
                  <a:srgbClr val="9D9D97"/>
                </a:solidFill>
                <a:latin typeface="Arial" pitchFamily="34" charset="0"/>
                <a:ea typeface="Arial" pitchFamily="34" charset="-122"/>
                <a:cs typeface="Arial" pitchFamily="34" charset="-120"/>
              </a:rPr>
              <a:t>We build it and put it into production. Your team works beside us the whole time, so they can run it after we leave.</a:t>
            </a:r>
            <a:endParaRPr lang="en-US" sz="1300" dirty="0"/>
          </a:p>
        </p:txBody>
      </p:sp>
      <p:sp>
        <p:nvSpPr>
          <p:cNvPr id="14" name="Shape 12"/>
          <p:cNvSpPr/>
          <p:nvPr/>
        </p:nvSpPr>
        <p:spPr>
          <a:xfrm>
            <a:off x="685800" y="4572000"/>
            <a:ext cx="10789920" cy="1371600"/>
          </a:xfrm>
          <a:prstGeom prst="rect">
            <a:avLst/>
          </a:prstGeom>
          <a:solidFill>
            <a:srgbClr val="1C1C20"/>
          </a:solidFill>
          <a:ln w="9525">
            <a:solidFill>
              <a:srgbClr val="2A2A2E"/>
            </a:solidFill>
            <a:prstDash val="solid"/>
          </a:ln>
        </p:spPr>
      </p:sp>
      <p:sp>
        <p:nvSpPr>
          <p:cNvPr id="15" name="Text 13"/>
          <p:cNvSpPr txBox="1"/>
          <p:nvPr/>
        </p:nvSpPr>
        <p:spPr>
          <a:xfrm>
            <a:off x="1005840" y="4800600"/>
            <a:ext cx="10149840" cy="384048"/>
          </a:xfrm>
          <a:prstGeom prst="rect">
            <a:avLst/>
          </a:prstGeom>
          <a:noFill/>
          <a:ln/>
        </p:spPr>
        <p:txBody>
          <a:bodyPr wrap="square" lIns="0" tIns="0" rIns="0" bIns="0" rtlCol="0" anchor="ctr"/>
          <a:lstStyle/>
          <a:p>
            <a:pPr indent="0" marL="0">
              <a:buNone/>
            </a:pPr>
            <a:r>
              <a:rPr lang="en-US" sz="1450" b="1" dirty="0">
                <a:solidFill>
                  <a:srgbClr val="EDEDEA"/>
                </a:solidFill>
                <a:latin typeface="Arial" pitchFamily="34" charset="0"/>
                <a:ea typeface="Arial" pitchFamily="34" charset="-122"/>
                <a:cs typeface="Arial" pitchFamily="34" charset="-120"/>
              </a:rPr>
              <a:t>You own the code, the hardware and the documentation. No licence, no subscription, no lock-in.</a:t>
            </a:r>
            <a:endParaRPr lang="en-US" sz="1450" dirty="0"/>
          </a:p>
        </p:txBody>
      </p:sp>
      <p:sp>
        <p:nvSpPr>
          <p:cNvPr id="16" name="Text 14"/>
          <p:cNvSpPr txBox="1"/>
          <p:nvPr/>
        </p:nvSpPr>
        <p:spPr>
          <a:xfrm>
            <a:off x="1005840" y="5257800"/>
            <a:ext cx="10149840" cy="457200"/>
          </a:xfrm>
          <a:prstGeom prst="rect">
            <a:avLst/>
          </a:prstGeom>
          <a:noFill/>
          <a:ln/>
        </p:spPr>
        <p:txBody>
          <a:bodyPr wrap="square" lIns="0" tIns="0" rIns="0" bIns="0" rtlCol="0" anchor="ctr"/>
          <a:lstStyle/>
          <a:p>
            <a:pPr indent="0" marL="0">
              <a:buNone/>
            </a:pPr>
            <a:r>
              <a:rPr lang="en-US" sz="1300" dirty="0">
                <a:solidFill>
                  <a:srgbClr val="FFD400"/>
                </a:solidFill>
                <a:latin typeface="Arial" pitchFamily="34" charset="0"/>
                <a:ea typeface="Arial" pitchFamily="34" charset="-122"/>
                <a:cs typeface="Arial" pitchFamily="34" charset="-120"/>
              </a:rPr>
              <a:t>If week two shows there is nothing worth building, we say so and we stop. You pay for the two weeks and we part on good terms.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05   /   WHY EACH CLAUSE EXISTS</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180"/>
              </a:lnSpc>
              <a:buNone/>
            </a:pPr>
            <a:r>
              <a:rPr lang="en-US" sz="3000" b="1" dirty="0">
                <a:solidFill>
                  <a:srgbClr val="EDEDEA"/>
                </a:solidFill>
                <a:latin typeface="Arial" pitchFamily="34" charset="0"/>
                <a:ea typeface="Arial" pitchFamily="34" charset="-122"/>
                <a:cs typeface="Arial" pitchFamily="34" charset="-120"/>
              </a:rPr>
              <a:t>Every promise answers something specific</a:t>
            </a:r>
            <a:endParaRPr lang="en-US" sz="3000" dirty="0"/>
          </a:p>
          <a:p>
            <a:pPr indent="0" marL="0">
              <a:lnSpc>
                <a:spcPts val="3180"/>
              </a:lnSpc>
              <a:buNone/>
            </a:pPr>
            <a:r>
              <a:rPr lang="en-US" sz="3000" b="1" dirty="0">
                <a:solidFill>
                  <a:srgbClr val="EDEDEA"/>
                </a:solidFill>
                <a:latin typeface="Arial" pitchFamily="34" charset="0"/>
                <a:ea typeface="Arial" pitchFamily="34" charset="-122"/>
                <a:cs typeface="Arial" pitchFamily="34" charset="-120"/>
              </a:rPr>
              <a:t>that went wrong last time.</a:t>
            </a:r>
            <a:endParaRPr lang="en-US" sz="3000" dirty="0"/>
          </a:p>
        </p:txBody>
      </p:sp>
      <p:sp>
        <p:nvSpPr>
          <p:cNvPr id="4" name="Shape 2"/>
          <p:cNvSpPr/>
          <p:nvPr/>
        </p:nvSpPr>
        <p:spPr>
          <a:xfrm>
            <a:off x="685800" y="2377440"/>
            <a:ext cx="10789920" cy="841248"/>
          </a:xfrm>
          <a:prstGeom prst="rect">
            <a:avLst/>
          </a:prstGeom>
          <a:solidFill>
            <a:srgbClr val="141416"/>
          </a:solidFill>
          <a:ln w="9525">
            <a:solidFill>
              <a:srgbClr val="2A2A2E"/>
            </a:solidFill>
            <a:prstDash val="solid"/>
          </a:ln>
        </p:spPr>
      </p:sp>
      <p:sp>
        <p:nvSpPr>
          <p:cNvPr id="5" name="Text 3"/>
          <p:cNvSpPr txBox="1"/>
          <p:nvPr/>
        </p:nvSpPr>
        <p:spPr>
          <a:xfrm>
            <a:off x="960120" y="2432304"/>
            <a:ext cx="3931920" cy="73152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A fixed end date</a:t>
            </a:r>
            <a:endParaRPr lang="en-US" sz="1400" dirty="0"/>
          </a:p>
        </p:txBody>
      </p:sp>
      <p:sp>
        <p:nvSpPr>
          <p:cNvPr id="6" name="Text 4"/>
          <p:cNvSpPr txBox="1"/>
          <p:nvPr/>
        </p:nvSpPr>
        <p:spPr>
          <a:xfrm>
            <a:off x="5029200" y="2432304"/>
            <a:ext cx="6217920" cy="731520"/>
          </a:xfrm>
          <a:prstGeom prst="rect">
            <a:avLst/>
          </a:prstGeom>
          <a:noFill/>
          <a:ln/>
        </p:spPr>
        <p:txBody>
          <a:bodyPr wrap="square" lIns="0" tIns="0" rIns="0" bIns="0" rtlCol="0" anchor="ctr"/>
          <a:lstStyle/>
          <a:p>
            <a:pPr indent="0" marL="0">
              <a:buNone/>
            </a:pPr>
            <a:r>
              <a:rPr lang="en-US" sz="1300" i="1" dirty="0">
                <a:solidFill>
                  <a:srgbClr val="9D9D97"/>
                </a:solidFill>
                <a:latin typeface="Arial" pitchFamily="34" charset="0"/>
                <a:ea typeface="Arial" pitchFamily="34" charset="-122"/>
                <a:cs typeface="Arial" pitchFamily="34" charset="-120"/>
              </a:rPr>
              <a:t>“We tried a vendor before and it never ended.”</a:t>
            </a:r>
            <a:endParaRPr lang="en-US" sz="1300" dirty="0"/>
          </a:p>
        </p:txBody>
      </p:sp>
      <p:sp>
        <p:nvSpPr>
          <p:cNvPr id="7" name="Shape 5"/>
          <p:cNvSpPr/>
          <p:nvPr/>
        </p:nvSpPr>
        <p:spPr>
          <a:xfrm>
            <a:off x="685800" y="3337560"/>
            <a:ext cx="10789920" cy="841248"/>
          </a:xfrm>
          <a:prstGeom prst="rect">
            <a:avLst/>
          </a:prstGeom>
          <a:solidFill>
            <a:srgbClr val="141416"/>
          </a:solidFill>
          <a:ln w="9525">
            <a:solidFill>
              <a:srgbClr val="2A2A2E"/>
            </a:solidFill>
            <a:prstDash val="solid"/>
          </a:ln>
        </p:spPr>
      </p:sp>
      <p:sp>
        <p:nvSpPr>
          <p:cNvPr id="8" name="Text 6"/>
          <p:cNvSpPr txBox="1"/>
          <p:nvPr/>
        </p:nvSpPr>
        <p:spPr>
          <a:xfrm>
            <a:off x="960120" y="3392424"/>
            <a:ext cx="3931920" cy="73152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You own the code and hardware</a:t>
            </a:r>
            <a:endParaRPr lang="en-US" sz="1400" dirty="0"/>
          </a:p>
        </p:txBody>
      </p:sp>
      <p:sp>
        <p:nvSpPr>
          <p:cNvPr id="9" name="Text 7"/>
          <p:cNvSpPr txBox="1"/>
          <p:nvPr/>
        </p:nvSpPr>
        <p:spPr>
          <a:xfrm>
            <a:off x="5029200" y="3392424"/>
            <a:ext cx="6217920" cy="731520"/>
          </a:xfrm>
          <a:prstGeom prst="rect">
            <a:avLst/>
          </a:prstGeom>
          <a:noFill/>
          <a:ln/>
        </p:spPr>
        <p:txBody>
          <a:bodyPr wrap="square" lIns="0" tIns="0" rIns="0" bIns="0" rtlCol="0" anchor="ctr"/>
          <a:lstStyle/>
          <a:p>
            <a:pPr indent="0" marL="0">
              <a:buNone/>
            </a:pPr>
            <a:r>
              <a:rPr lang="en-US" sz="1300" i="1" dirty="0">
                <a:solidFill>
                  <a:srgbClr val="9D9D97"/>
                </a:solidFill>
                <a:latin typeface="Arial" pitchFamily="34" charset="0"/>
                <a:ea typeface="Arial" pitchFamily="34" charset="-122"/>
                <a:cs typeface="Arial" pitchFamily="34" charset="-120"/>
              </a:rPr>
              <a:t>“We will be locked into their subscription forever.”</a:t>
            </a:r>
            <a:endParaRPr lang="en-US" sz="1300" dirty="0"/>
          </a:p>
        </p:txBody>
      </p:sp>
      <p:sp>
        <p:nvSpPr>
          <p:cNvPr id="10" name="Shape 8"/>
          <p:cNvSpPr/>
          <p:nvPr/>
        </p:nvSpPr>
        <p:spPr>
          <a:xfrm>
            <a:off x="685800" y="4297680"/>
            <a:ext cx="10789920" cy="841248"/>
          </a:xfrm>
          <a:prstGeom prst="rect">
            <a:avLst/>
          </a:prstGeom>
          <a:solidFill>
            <a:srgbClr val="141416"/>
          </a:solidFill>
          <a:ln w="9525">
            <a:solidFill>
              <a:srgbClr val="2A2A2E"/>
            </a:solidFill>
            <a:prstDash val="solid"/>
          </a:ln>
        </p:spPr>
      </p:sp>
      <p:sp>
        <p:nvSpPr>
          <p:cNvPr id="11" name="Text 9"/>
          <p:cNvSpPr txBox="1"/>
          <p:nvPr/>
        </p:nvSpPr>
        <p:spPr>
          <a:xfrm>
            <a:off x="960120" y="4352544"/>
            <a:ext cx="3931920" cy="73152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Your team builds it with us</a:t>
            </a:r>
            <a:endParaRPr lang="en-US" sz="1400" dirty="0"/>
          </a:p>
        </p:txBody>
      </p:sp>
      <p:sp>
        <p:nvSpPr>
          <p:cNvPr id="12" name="Text 10"/>
          <p:cNvSpPr txBox="1"/>
          <p:nvPr/>
        </p:nvSpPr>
        <p:spPr>
          <a:xfrm>
            <a:off x="5029200" y="4352544"/>
            <a:ext cx="6217920" cy="731520"/>
          </a:xfrm>
          <a:prstGeom prst="rect">
            <a:avLst/>
          </a:prstGeom>
          <a:noFill/>
          <a:ln/>
        </p:spPr>
        <p:txBody>
          <a:bodyPr wrap="square" lIns="0" tIns="0" rIns="0" bIns="0" rtlCol="0" anchor="ctr"/>
          <a:lstStyle/>
          <a:p>
            <a:pPr indent="0" marL="0">
              <a:buNone/>
            </a:pPr>
            <a:r>
              <a:rPr lang="en-US" sz="1300" i="1" dirty="0">
                <a:solidFill>
                  <a:srgbClr val="9D9D97"/>
                </a:solidFill>
                <a:latin typeface="Arial" pitchFamily="34" charset="0"/>
                <a:ea typeface="Arial" pitchFamily="34" charset="-122"/>
                <a:cs typeface="Arial" pitchFamily="34" charset="-120"/>
              </a:rPr>
              <a:t>“Nobody here will know how to run it once they leave.”</a:t>
            </a:r>
            <a:endParaRPr lang="en-US" sz="1300" dirty="0"/>
          </a:p>
        </p:txBody>
      </p:sp>
      <p:sp>
        <p:nvSpPr>
          <p:cNvPr id="13" name="Shape 11"/>
          <p:cNvSpPr/>
          <p:nvPr/>
        </p:nvSpPr>
        <p:spPr>
          <a:xfrm>
            <a:off x="685800" y="5257800"/>
            <a:ext cx="10789920" cy="841248"/>
          </a:xfrm>
          <a:prstGeom prst="rect">
            <a:avLst/>
          </a:prstGeom>
          <a:solidFill>
            <a:srgbClr val="1C1C20"/>
          </a:solidFill>
          <a:ln w="9525">
            <a:solidFill>
              <a:srgbClr val="2A2A2E"/>
            </a:solidFill>
            <a:prstDash val="solid"/>
          </a:ln>
        </p:spPr>
      </p:sp>
      <p:sp>
        <p:nvSpPr>
          <p:cNvPr id="14" name="Text 12"/>
          <p:cNvSpPr txBox="1"/>
          <p:nvPr/>
        </p:nvSpPr>
        <p:spPr>
          <a:xfrm>
            <a:off x="960120" y="5312664"/>
            <a:ext cx="3931920" cy="731520"/>
          </a:xfrm>
          <a:prstGeom prst="rect">
            <a:avLst/>
          </a:prstGeom>
          <a:noFill/>
          <a:ln/>
        </p:spPr>
        <p:txBody>
          <a:bodyPr wrap="square" lIns="0" tIns="0" rIns="0" bIns="0" rtlCol="0" anchor="ctr"/>
          <a:lstStyle/>
          <a:p>
            <a:pPr indent="0" marL="0">
              <a:buNone/>
            </a:pPr>
            <a:r>
              <a:rPr lang="en-US" sz="1400" b="1" dirty="0">
                <a:solidFill>
                  <a:srgbClr val="FFD400"/>
                </a:solidFill>
                <a:latin typeface="Arial" pitchFamily="34" charset="0"/>
                <a:ea typeface="Arial" pitchFamily="34" charset="-122"/>
                <a:cs typeface="Arial" pitchFamily="34" charset="-120"/>
              </a:rPr>
              <a:t>We will tell you to stop</a:t>
            </a:r>
            <a:endParaRPr lang="en-US" sz="1400" dirty="0"/>
          </a:p>
        </p:txBody>
      </p:sp>
      <p:sp>
        <p:nvSpPr>
          <p:cNvPr id="15" name="Text 13"/>
          <p:cNvSpPr txBox="1"/>
          <p:nvPr/>
        </p:nvSpPr>
        <p:spPr>
          <a:xfrm>
            <a:off x="5029200" y="5312664"/>
            <a:ext cx="6217920" cy="731520"/>
          </a:xfrm>
          <a:prstGeom prst="rect">
            <a:avLst/>
          </a:prstGeom>
          <a:noFill/>
          <a:ln/>
        </p:spPr>
        <p:txBody>
          <a:bodyPr wrap="square" lIns="0" tIns="0" rIns="0" bIns="0" rtlCol="0" anchor="ctr"/>
          <a:lstStyle/>
          <a:p>
            <a:pPr indent="0" marL="0">
              <a:buNone/>
            </a:pPr>
            <a:r>
              <a:rPr lang="en-US" sz="1300" i="1" dirty="0">
                <a:solidFill>
                  <a:srgbClr val="9D9D97"/>
                </a:solidFill>
                <a:latin typeface="Arial" pitchFamily="34" charset="0"/>
                <a:ea typeface="Arial" pitchFamily="34" charset="-122"/>
                <a:cs typeface="Arial" pitchFamily="34" charset="-120"/>
              </a:rPr>
              <a:t>“They will keep selling us things we do not need.”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06   /   WHAT WE HAVE BUILT</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180"/>
              </a:lnSpc>
              <a:buNone/>
            </a:pPr>
            <a:r>
              <a:rPr lang="en-US" sz="3000" b="1" dirty="0">
                <a:solidFill>
                  <a:srgbClr val="EDEDEA"/>
                </a:solidFill>
                <a:latin typeface="Arial" pitchFamily="34" charset="0"/>
                <a:ea typeface="Arial" pitchFamily="34" charset="-122"/>
                <a:cs typeface="Arial" pitchFamily="34" charset="-120"/>
              </a:rPr>
              <a:t>Ten systems, built and run against real operational problems.</a:t>
            </a:r>
            <a:endParaRPr lang="en-US" sz="3000" dirty="0"/>
          </a:p>
        </p:txBody>
      </p:sp>
      <p:sp>
        <p:nvSpPr>
          <p:cNvPr id="4" name="Shape 2"/>
          <p:cNvSpPr/>
          <p:nvPr/>
        </p:nvSpPr>
        <p:spPr>
          <a:xfrm>
            <a:off x="685800" y="2103120"/>
            <a:ext cx="3474720" cy="2377440"/>
          </a:xfrm>
          <a:prstGeom prst="rect">
            <a:avLst/>
          </a:prstGeom>
          <a:solidFill>
            <a:srgbClr val="141416"/>
          </a:solidFill>
          <a:ln w="9525">
            <a:solidFill>
              <a:srgbClr val="2A2A2E"/>
            </a:solidFill>
            <a:prstDash val="solid"/>
          </a:ln>
        </p:spPr>
      </p:sp>
      <p:sp>
        <p:nvSpPr>
          <p:cNvPr id="5" name="Text 3"/>
          <p:cNvSpPr txBox="1"/>
          <p:nvPr/>
        </p:nvSpPr>
        <p:spPr>
          <a:xfrm>
            <a:off x="923544" y="230428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7 days</a:t>
            </a:r>
            <a:endParaRPr lang="en-US" sz="3400" dirty="0"/>
          </a:p>
        </p:txBody>
      </p:sp>
      <p:sp>
        <p:nvSpPr>
          <p:cNvPr id="6" name="Text 4"/>
          <p:cNvSpPr txBox="1"/>
          <p:nvPr/>
        </p:nvSpPr>
        <p:spPr>
          <a:xfrm>
            <a:off x="923544" y="299923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SAFETYFIRST</a:t>
            </a:r>
            <a:endParaRPr lang="en-US" sz="950" dirty="0"/>
          </a:p>
        </p:txBody>
      </p:sp>
      <p:sp>
        <p:nvSpPr>
          <p:cNvPr id="7" name="Text 5"/>
          <p:cNvSpPr txBox="1"/>
          <p:nvPr/>
        </p:nvSpPr>
        <p:spPr>
          <a:xfrm>
            <a:off x="923544" y="3291840"/>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Predicts workplace incident probability a week ahead from the register a plant already keeps. XGBoost, IBM Watson, FastAPI.</a:t>
            </a:r>
            <a:endParaRPr lang="en-US" sz="1150" dirty="0"/>
          </a:p>
        </p:txBody>
      </p:sp>
      <p:sp>
        <p:nvSpPr>
          <p:cNvPr id="8" name="Shape 6"/>
          <p:cNvSpPr/>
          <p:nvPr/>
        </p:nvSpPr>
        <p:spPr>
          <a:xfrm>
            <a:off x="4343400" y="2103120"/>
            <a:ext cx="3474720" cy="2377440"/>
          </a:xfrm>
          <a:prstGeom prst="rect">
            <a:avLst/>
          </a:prstGeom>
          <a:solidFill>
            <a:srgbClr val="141416"/>
          </a:solidFill>
          <a:ln w="9525">
            <a:solidFill>
              <a:srgbClr val="2A2A2E"/>
            </a:solidFill>
            <a:prstDash val="solid"/>
          </a:ln>
        </p:spPr>
      </p:sp>
      <p:sp>
        <p:nvSpPr>
          <p:cNvPr id="9" name="Text 7"/>
          <p:cNvSpPr txBox="1"/>
          <p:nvPr/>
        </p:nvSpPr>
        <p:spPr>
          <a:xfrm>
            <a:off x="4581144" y="230428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60%</a:t>
            </a:r>
            <a:endParaRPr lang="en-US" sz="3400" dirty="0"/>
          </a:p>
        </p:txBody>
      </p:sp>
      <p:sp>
        <p:nvSpPr>
          <p:cNvPr id="10" name="Text 8"/>
          <p:cNvSpPr txBox="1"/>
          <p:nvPr/>
        </p:nvSpPr>
        <p:spPr>
          <a:xfrm>
            <a:off x="4581144" y="299923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GLAUCON</a:t>
            </a:r>
            <a:endParaRPr lang="en-US" sz="950" dirty="0"/>
          </a:p>
        </p:txBody>
      </p:sp>
      <p:sp>
        <p:nvSpPr>
          <p:cNvPr id="11" name="Text 9"/>
          <p:cNvSpPr txBox="1"/>
          <p:nvPr/>
        </p:nvSpPr>
        <p:spPr>
          <a:xfrm>
            <a:off x="4581144" y="3291840"/>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Cut research preparation time for a government relations team. Multi-agent retrieval and entity resolution.</a:t>
            </a:r>
            <a:endParaRPr lang="en-US" sz="1150" dirty="0"/>
          </a:p>
        </p:txBody>
      </p:sp>
      <p:sp>
        <p:nvSpPr>
          <p:cNvPr id="12" name="Shape 10"/>
          <p:cNvSpPr/>
          <p:nvPr/>
        </p:nvSpPr>
        <p:spPr>
          <a:xfrm>
            <a:off x="8001000" y="2103120"/>
            <a:ext cx="3474720" cy="2377440"/>
          </a:xfrm>
          <a:prstGeom prst="rect">
            <a:avLst/>
          </a:prstGeom>
          <a:solidFill>
            <a:srgbClr val="141416"/>
          </a:solidFill>
          <a:ln w="9525">
            <a:solidFill>
              <a:srgbClr val="2A2A2E"/>
            </a:solidFill>
            <a:prstDash val="solid"/>
          </a:ln>
        </p:spPr>
      </p:sp>
      <p:sp>
        <p:nvSpPr>
          <p:cNvPr id="13" name="Text 11"/>
          <p:cNvSpPr txBox="1"/>
          <p:nvPr/>
        </p:nvSpPr>
        <p:spPr>
          <a:xfrm>
            <a:off x="8238744" y="230428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0 to 100</a:t>
            </a:r>
            <a:endParaRPr lang="en-US" sz="3400" dirty="0"/>
          </a:p>
        </p:txBody>
      </p:sp>
      <p:sp>
        <p:nvSpPr>
          <p:cNvPr id="14" name="Text 12"/>
          <p:cNvSpPr txBox="1"/>
          <p:nvPr/>
        </p:nvSpPr>
        <p:spPr>
          <a:xfrm>
            <a:off x="8238744" y="299923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RFQ AGENT</a:t>
            </a:r>
            <a:endParaRPr lang="en-US" sz="950" dirty="0"/>
          </a:p>
        </p:txBody>
      </p:sp>
      <p:sp>
        <p:nvSpPr>
          <p:cNvPr id="15" name="Text 13"/>
          <p:cNvSpPr txBox="1"/>
          <p:nvPr/>
        </p:nvSpPr>
        <p:spPr>
          <a:xfrm>
            <a:off x="8238744" y="3291840"/>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Watches public tender sources, scores each opportunity against fit and drafts the proposal. LangGraph, PostgreSQL.</a:t>
            </a:r>
            <a:endParaRPr lang="en-US" sz="1150" dirty="0"/>
          </a:p>
        </p:txBody>
      </p:sp>
      <p:sp>
        <p:nvSpPr>
          <p:cNvPr id="16" name="Shape 14"/>
          <p:cNvSpPr/>
          <p:nvPr/>
        </p:nvSpPr>
        <p:spPr>
          <a:xfrm>
            <a:off x="685800" y="4754880"/>
            <a:ext cx="10789920" cy="1051560"/>
          </a:xfrm>
          <a:prstGeom prst="rect">
            <a:avLst/>
          </a:prstGeom>
          <a:solidFill>
            <a:srgbClr val="1C1C20"/>
          </a:solidFill>
          <a:ln w="9525">
            <a:solidFill>
              <a:srgbClr val="2A2A2E"/>
            </a:solidFill>
            <a:prstDash val="solid"/>
          </a:ln>
        </p:spPr>
      </p:sp>
      <p:sp>
        <p:nvSpPr>
          <p:cNvPr id="17" name="Text 15"/>
          <p:cNvSpPr txBox="1"/>
          <p:nvPr/>
        </p:nvSpPr>
        <p:spPr>
          <a:xfrm>
            <a:off x="1005840" y="4937760"/>
            <a:ext cx="10149840" cy="731520"/>
          </a:xfrm>
          <a:prstGeom prst="rect">
            <a:avLst/>
          </a:prstGeom>
          <a:noFill/>
          <a:ln/>
        </p:spPr>
        <p:txBody>
          <a:bodyPr wrap="square" lIns="0" tIns="0" rIns="0" bIns="0" rtlCol="0" anchor="ctr"/>
          <a:lstStyle/>
          <a:p>
            <a:pPr indent="0" marL="0">
              <a:lnSpc>
                <a:spcPts val="1900"/>
              </a:lnSpc>
              <a:buNone/>
            </a:pPr>
            <a:r>
              <a:rPr lang="en-US" sz="1350" dirty="0">
                <a:solidFill>
                  <a:srgbClr val="EDEDEA"/>
                </a:solidFill>
                <a:latin typeface="Arial" pitchFamily="34" charset="0"/>
                <a:ea typeface="Arial" pitchFamily="34" charset="-122"/>
                <a:cs typeface="Arial" pitchFamily="34" charset="-120"/>
              </a:rPr>
              <a:t>These are our own builds, not client engagements, and we will not present them as anything else. We show them for one reason: they are evidence that two people ship working systems on a deadline.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07   /   WHAT IT COSTS</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180"/>
              </a:lnSpc>
              <a:buNone/>
            </a:pPr>
            <a:r>
              <a:rPr lang="en-US" sz="3000" b="1" dirty="0">
                <a:solidFill>
                  <a:srgbClr val="EDEDEA"/>
                </a:solidFill>
                <a:latin typeface="Arial" pitchFamily="34" charset="0"/>
                <a:ea typeface="Arial" pitchFamily="34" charset="-122"/>
                <a:cs typeface="Arial" pitchFamily="34" charset="-120"/>
              </a:rPr>
              <a:t>Rs 8 to 15 lakh for six weeks.</a:t>
            </a:r>
            <a:endParaRPr lang="en-US" sz="3000" dirty="0"/>
          </a:p>
          <a:p>
            <a:pPr indent="0" marL="0">
              <a:lnSpc>
                <a:spcPts val="3180"/>
              </a:lnSpc>
              <a:buNone/>
            </a:pPr>
            <a:r>
              <a:rPr lang="en-US" sz="3000" b="1" dirty="0">
                <a:solidFill>
                  <a:srgbClr val="EDEDEA"/>
                </a:solidFill>
                <a:latin typeface="Arial" pitchFamily="34" charset="0"/>
                <a:ea typeface="Arial" pitchFamily="34" charset="-122"/>
                <a:cs typeface="Arial" pitchFamily="34" charset="-120"/>
              </a:rPr>
              <a:t>Most of it is claimable.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789920" cy="914400"/>
        </p:xfrm>
        <a:graphic>
          <a:graphicData uri="http://schemas.openxmlformats.org/drawingml/2006/table">
            <a:tbl>
              <a:tblPr/>
              <a:tblGrid>
                <a:gridCol w="4572000"/>
                <a:gridCol w="3931920"/>
                <a:gridCol w="2286000"/>
              </a:tblGrid>
              <a:tr h="310896">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SCHEME</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PAYS</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CAP</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250" b="1" dirty="0">
                          <a:solidFill>
                            <a:srgbClr val="EDEDEA"/>
                          </a:solidFill>
                          <a:latin typeface="Arial" pitchFamily="34" charset="0"/>
                          <a:ea typeface="Arial" pitchFamily="34" charset="-122"/>
                          <a:cs typeface="Arial" pitchFamily="34" charset="-120"/>
                        </a:rPr>
                        <a:t>Gujarat Technology Acquisition</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50" b="1" dirty="0">
                          <a:solidFill>
                            <a:srgbClr val="FFD400"/>
                          </a:solidFill>
                          <a:latin typeface="Arial" pitchFamily="34" charset="0"/>
                          <a:ea typeface="Arial" pitchFamily="34" charset="-122"/>
                          <a:cs typeface="Arial" pitchFamily="34" charset="-120"/>
                        </a:rPr>
                        <a:t>65% of cost</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50" dirty="0">
                          <a:solidFill>
                            <a:srgbClr val="9D9D97"/>
                          </a:solidFill>
                          <a:latin typeface="Arial" pitchFamily="34" charset="0"/>
                          <a:ea typeface="Arial" pitchFamily="34" charset="-122"/>
                          <a:cs typeface="Arial" pitchFamily="34" charset="-120"/>
                        </a:rPr>
                        <a:t>Rs 50 lakh</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250" b="1" dirty="0">
                          <a:solidFill>
                            <a:srgbClr val="EDEDEA"/>
                          </a:solidFill>
                          <a:latin typeface="Arial" pitchFamily="34" charset="0"/>
                          <a:ea typeface="Arial" pitchFamily="34" charset="-122"/>
                          <a:cs typeface="Arial" pitchFamily="34" charset="-120"/>
                        </a:rPr>
                        <a:t>Maharashtra MIISP 2025</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50" b="1" dirty="0">
                          <a:solidFill>
                            <a:srgbClr val="FFD400"/>
                          </a:solidFill>
                          <a:latin typeface="Arial" pitchFamily="34" charset="0"/>
                          <a:ea typeface="Arial" pitchFamily="34" charset="-122"/>
                          <a:cs typeface="Arial" pitchFamily="34" charset="-120"/>
                        </a:rPr>
                        <a:t>50% of capital equipment</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50" dirty="0">
                          <a:solidFill>
                            <a:srgbClr val="9D9D97"/>
                          </a:solidFill>
                          <a:latin typeface="Arial" pitchFamily="34" charset="0"/>
                          <a:ea typeface="Arial" pitchFamily="34" charset="-122"/>
                          <a:cs typeface="Arial" pitchFamily="34" charset="-120"/>
                        </a:rPr>
                        <a:t>Rs 25 lakh</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250" b="1" dirty="0">
                          <a:solidFill>
                            <a:srgbClr val="EDEDEA"/>
                          </a:solidFill>
                          <a:latin typeface="Arial" pitchFamily="34" charset="0"/>
                          <a:ea typeface="Arial" pitchFamily="34" charset="-122"/>
                          <a:cs typeface="Arial" pitchFamily="34" charset="-120"/>
                        </a:rPr>
                        <a:t>Gujarat Energy Conservation</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50" b="1" dirty="0">
                          <a:solidFill>
                            <a:srgbClr val="FFD400"/>
                          </a:solidFill>
                          <a:latin typeface="Arial" pitchFamily="34" charset="0"/>
                          <a:ea typeface="Arial" pitchFamily="34" charset="-122"/>
                          <a:cs typeface="Arial" pitchFamily="34" charset="-120"/>
                        </a:rPr>
                        <a:t>75% audit, 25% equipment</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250" dirty="0">
                          <a:solidFill>
                            <a:srgbClr val="9D9D97"/>
                          </a:solidFill>
                          <a:latin typeface="Arial" pitchFamily="34" charset="0"/>
                          <a:ea typeface="Arial" pitchFamily="34" charset="-122"/>
                          <a:cs typeface="Arial" pitchFamily="34" charset="-120"/>
                        </a:rPr>
                        <a:t>Rs 20 lakh</a:t>
                      </a:r>
                      <a:endParaRPr lang="en-US" sz="12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bl>
          </a:graphicData>
        </a:graphic>
      </p:graphicFrame>
      <p:sp>
        <p:nvSpPr>
          <p:cNvPr id="5" name="Shape 2"/>
          <p:cNvSpPr/>
          <p:nvPr/>
        </p:nvSpPr>
        <p:spPr>
          <a:xfrm>
            <a:off x="685800" y="4160520"/>
            <a:ext cx="3474720" cy="1600200"/>
          </a:xfrm>
          <a:prstGeom prst="rect">
            <a:avLst/>
          </a:prstGeom>
          <a:solidFill>
            <a:srgbClr val="141416"/>
          </a:solidFill>
          <a:ln w="9525">
            <a:solidFill>
              <a:srgbClr val="2A2A2E"/>
            </a:solidFill>
            <a:prstDash val="solid"/>
          </a:ln>
        </p:spPr>
      </p:sp>
      <p:sp>
        <p:nvSpPr>
          <p:cNvPr id="6" name="Text 3"/>
          <p:cNvSpPr txBox="1"/>
          <p:nvPr/>
        </p:nvSpPr>
        <p:spPr>
          <a:xfrm>
            <a:off x="923544" y="436168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Rs 12L</a:t>
            </a:r>
            <a:endParaRPr lang="en-US" sz="3400" dirty="0"/>
          </a:p>
        </p:txBody>
      </p:sp>
      <p:sp>
        <p:nvSpPr>
          <p:cNvPr id="7" name="Text 4"/>
          <p:cNvSpPr txBox="1"/>
          <p:nvPr/>
        </p:nvSpPr>
        <p:spPr>
          <a:xfrm>
            <a:off x="923544" y="505663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TYPICAL SPRINT</a:t>
            </a:r>
            <a:endParaRPr lang="en-US" sz="950" dirty="0"/>
          </a:p>
        </p:txBody>
      </p:sp>
      <p:sp>
        <p:nvSpPr>
          <p:cNvPr id="8" name="Text 5"/>
          <p:cNvSpPr txBox="1"/>
          <p:nvPr/>
        </p:nvSpPr>
        <p:spPr>
          <a:xfrm>
            <a:off x="923544" y="5349240"/>
            <a:ext cx="3017520" cy="22860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Six weeks, two engineers, one system.</a:t>
            </a:r>
            <a:endParaRPr lang="en-US" sz="1150" dirty="0"/>
          </a:p>
        </p:txBody>
      </p:sp>
      <p:sp>
        <p:nvSpPr>
          <p:cNvPr id="9" name="Shape 6"/>
          <p:cNvSpPr/>
          <p:nvPr/>
        </p:nvSpPr>
        <p:spPr>
          <a:xfrm>
            <a:off x="4343400" y="4160520"/>
            <a:ext cx="3474720" cy="1600200"/>
          </a:xfrm>
          <a:prstGeom prst="rect">
            <a:avLst/>
          </a:prstGeom>
          <a:solidFill>
            <a:srgbClr val="141416"/>
          </a:solidFill>
          <a:ln w="9525">
            <a:solidFill>
              <a:srgbClr val="2A2A2E"/>
            </a:solidFill>
            <a:prstDash val="solid"/>
          </a:ln>
        </p:spPr>
      </p:sp>
      <p:sp>
        <p:nvSpPr>
          <p:cNvPr id="10" name="Text 7"/>
          <p:cNvSpPr txBox="1"/>
          <p:nvPr/>
        </p:nvSpPr>
        <p:spPr>
          <a:xfrm>
            <a:off x="4581144" y="436168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65%</a:t>
            </a:r>
            <a:endParaRPr lang="en-US" sz="3400" dirty="0"/>
          </a:p>
        </p:txBody>
      </p:sp>
      <p:sp>
        <p:nvSpPr>
          <p:cNvPr id="11" name="Text 8"/>
          <p:cNvSpPr txBox="1"/>
          <p:nvPr/>
        </p:nvSpPr>
        <p:spPr>
          <a:xfrm>
            <a:off x="4581144" y="505663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CLAIMABLE</a:t>
            </a:r>
            <a:endParaRPr lang="en-US" sz="950" dirty="0"/>
          </a:p>
        </p:txBody>
      </p:sp>
      <p:sp>
        <p:nvSpPr>
          <p:cNvPr id="12" name="Text 9"/>
          <p:cNvSpPr txBox="1"/>
          <p:nvPr/>
        </p:nvSpPr>
        <p:spPr>
          <a:xfrm>
            <a:off x="4581144" y="5349240"/>
            <a:ext cx="3017520" cy="22860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Gujarat Technology Acquisition.</a:t>
            </a:r>
            <a:endParaRPr lang="en-US" sz="1150" dirty="0"/>
          </a:p>
        </p:txBody>
      </p:sp>
      <p:sp>
        <p:nvSpPr>
          <p:cNvPr id="13" name="Shape 10"/>
          <p:cNvSpPr/>
          <p:nvPr/>
        </p:nvSpPr>
        <p:spPr>
          <a:xfrm>
            <a:off x="8001000" y="4160520"/>
            <a:ext cx="3474720" cy="1600200"/>
          </a:xfrm>
          <a:prstGeom prst="rect">
            <a:avLst/>
          </a:prstGeom>
          <a:solidFill>
            <a:srgbClr val="141416"/>
          </a:solidFill>
          <a:ln w="9525">
            <a:solidFill>
              <a:srgbClr val="2A2A2E"/>
            </a:solidFill>
            <a:prstDash val="solid"/>
          </a:ln>
        </p:spPr>
      </p:sp>
      <p:sp>
        <p:nvSpPr>
          <p:cNvPr id="14" name="Text 11"/>
          <p:cNvSpPr txBox="1"/>
          <p:nvPr/>
        </p:nvSpPr>
        <p:spPr>
          <a:xfrm>
            <a:off x="8238744" y="4361688"/>
            <a:ext cx="3017520"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Rs 4.2L</a:t>
            </a:r>
            <a:endParaRPr lang="en-US" sz="3400" dirty="0"/>
          </a:p>
        </p:txBody>
      </p:sp>
      <p:sp>
        <p:nvSpPr>
          <p:cNvPr id="15" name="Text 12"/>
          <p:cNvSpPr txBox="1"/>
          <p:nvPr/>
        </p:nvSpPr>
        <p:spPr>
          <a:xfrm>
            <a:off x="8238744" y="5056632"/>
            <a:ext cx="3017520"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YOUR NET COST</a:t>
            </a:r>
            <a:endParaRPr lang="en-US" sz="950" dirty="0"/>
          </a:p>
        </p:txBody>
      </p:sp>
      <p:sp>
        <p:nvSpPr>
          <p:cNvPr id="16" name="Text 13"/>
          <p:cNvSpPr txBox="1"/>
          <p:nvPr/>
        </p:nvSpPr>
        <p:spPr>
          <a:xfrm>
            <a:off x="8238744" y="5349240"/>
            <a:ext cx="3017520" cy="22860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Inside most plant heads' own authority.</a:t>
            </a:r>
            <a:endParaRPr lang="en-US" sz="1150" dirty="0"/>
          </a:p>
        </p:txBody>
      </p:sp>
      <p:sp>
        <p:nvSpPr>
          <p:cNvPr id="17" name="Text 14"/>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850" spc="60" kern="0" dirty="0">
                <a:solidFill>
                  <a:srgbClr val="6B6B65"/>
                </a:solidFill>
                <a:latin typeface="Courier New" pitchFamily="34" charset="0"/>
                <a:ea typeface="Courier New" pitchFamily="34" charset="-122"/>
                <a:cs typeface="Courier New" pitchFamily="34" charset="-120"/>
              </a:rPr>
              <a:t>We confirm scheme eligibility for your unit before quoting a net figure. We never quote net of a subsidy you have not been confirmed for.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08   /   WHERE WE WORK</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2968"/>
              </a:lnSpc>
              <a:buNone/>
            </a:pPr>
            <a:r>
              <a:rPr lang="en-US" sz="2800" b="1" dirty="0">
                <a:solidFill>
                  <a:srgbClr val="EDEDEA"/>
                </a:solidFill>
                <a:latin typeface="Arial" pitchFamily="34" charset="0"/>
                <a:ea typeface="Arial" pitchFamily="34" charset="-122"/>
                <a:cs typeface="Arial" pitchFamily="34" charset="-120"/>
              </a:rPr>
              <a:t>Software and hardware, wherever the bottleneck turns out to be.</a:t>
            </a:r>
            <a:endParaRPr lang="en-US" sz="2800" dirty="0"/>
          </a:p>
        </p:txBody>
      </p:sp>
      <p:sp>
        <p:nvSpPr>
          <p:cNvPr id="4" name="Shape 2"/>
          <p:cNvSpPr/>
          <p:nvPr/>
        </p:nvSpPr>
        <p:spPr>
          <a:xfrm>
            <a:off x="685800" y="2148840"/>
            <a:ext cx="5303520" cy="1371600"/>
          </a:xfrm>
          <a:prstGeom prst="rect">
            <a:avLst/>
          </a:prstGeom>
          <a:solidFill>
            <a:srgbClr val="141416"/>
          </a:solidFill>
          <a:ln w="9525">
            <a:solidFill>
              <a:srgbClr val="2A2A2E"/>
            </a:solidFill>
            <a:prstDash val="solid"/>
          </a:ln>
        </p:spPr>
      </p:sp>
      <p:sp>
        <p:nvSpPr>
          <p:cNvPr id="5" name="Shape 3"/>
          <p:cNvSpPr/>
          <p:nvPr/>
        </p:nvSpPr>
        <p:spPr>
          <a:xfrm>
            <a:off x="923544" y="2386584"/>
            <a:ext cx="347472" cy="347472"/>
          </a:xfrm>
          <a:prstGeom prst="rect">
            <a:avLst/>
          </a:prstGeom>
          <a:solidFill>
            <a:srgbClr val="FFD400"/>
          </a:solidFill>
          <a:ln w="6350">
            <a:solidFill>
              <a:srgbClr val="FFD400"/>
            </a:solidFill>
            <a:prstDash val="solid"/>
          </a:ln>
        </p:spPr>
      </p:sp>
      <p:sp>
        <p:nvSpPr>
          <p:cNvPr id="6" name="Text 4"/>
          <p:cNvSpPr txBox="1"/>
          <p:nvPr/>
        </p:nvSpPr>
        <p:spPr>
          <a:xfrm>
            <a:off x="923544" y="2386584"/>
            <a:ext cx="347472" cy="347472"/>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01</a:t>
            </a:r>
            <a:endParaRPr lang="en-US" sz="1300" dirty="0"/>
          </a:p>
        </p:txBody>
      </p:sp>
      <p:sp>
        <p:nvSpPr>
          <p:cNvPr id="7" name="Text 5"/>
          <p:cNvSpPr txBox="1"/>
          <p:nvPr/>
        </p:nvSpPr>
        <p:spPr>
          <a:xfrm>
            <a:off x="1435608" y="2368296"/>
            <a:ext cx="4206240" cy="36576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Edge intelligence</a:t>
            </a:r>
            <a:endParaRPr lang="en-US" sz="1400" dirty="0"/>
          </a:p>
        </p:txBody>
      </p:sp>
      <p:sp>
        <p:nvSpPr>
          <p:cNvPr id="8" name="Text 6"/>
          <p:cNvSpPr txBox="1"/>
          <p:nvPr/>
        </p:nvSpPr>
        <p:spPr>
          <a:xfrm>
            <a:off x="923544" y="2834640"/>
            <a:ext cx="4846320" cy="59436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AI running next to the machine rather than in a data centre. Keeps working when the connection drops.</a:t>
            </a:r>
            <a:endParaRPr lang="en-US" sz="1200" dirty="0"/>
          </a:p>
        </p:txBody>
      </p:sp>
      <p:sp>
        <p:nvSpPr>
          <p:cNvPr id="9" name="Shape 7"/>
          <p:cNvSpPr/>
          <p:nvPr/>
        </p:nvSpPr>
        <p:spPr>
          <a:xfrm>
            <a:off x="6172200" y="2148840"/>
            <a:ext cx="5303520" cy="1371600"/>
          </a:xfrm>
          <a:prstGeom prst="rect">
            <a:avLst/>
          </a:prstGeom>
          <a:solidFill>
            <a:srgbClr val="141416"/>
          </a:solidFill>
          <a:ln w="9525">
            <a:solidFill>
              <a:srgbClr val="2A2A2E"/>
            </a:solidFill>
            <a:prstDash val="solid"/>
          </a:ln>
        </p:spPr>
      </p:sp>
      <p:sp>
        <p:nvSpPr>
          <p:cNvPr id="10" name="Shape 8"/>
          <p:cNvSpPr/>
          <p:nvPr/>
        </p:nvSpPr>
        <p:spPr>
          <a:xfrm>
            <a:off x="6409944" y="2386584"/>
            <a:ext cx="347472" cy="347472"/>
          </a:xfrm>
          <a:prstGeom prst="rect">
            <a:avLst/>
          </a:prstGeom>
          <a:solidFill>
            <a:srgbClr val="FFD400"/>
          </a:solidFill>
          <a:ln w="6350">
            <a:solidFill>
              <a:srgbClr val="FFD400"/>
            </a:solidFill>
            <a:prstDash val="solid"/>
          </a:ln>
        </p:spPr>
      </p:sp>
      <p:sp>
        <p:nvSpPr>
          <p:cNvPr id="11" name="Text 9"/>
          <p:cNvSpPr txBox="1"/>
          <p:nvPr/>
        </p:nvSpPr>
        <p:spPr>
          <a:xfrm>
            <a:off x="6409944" y="2386584"/>
            <a:ext cx="347472" cy="347472"/>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02</a:t>
            </a:r>
            <a:endParaRPr lang="en-US" sz="1300" dirty="0"/>
          </a:p>
        </p:txBody>
      </p:sp>
      <p:sp>
        <p:nvSpPr>
          <p:cNvPr id="12" name="Text 10"/>
          <p:cNvSpPr txBox="1"/>
          <p:nvPr/>
        </p:nvSpPr>
        <p:spPr>
          <a:xfrm>
            <a:off x="6922008" y="2368296"/>
            <a:ext cx="4206240" cy="36576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Computer vision</a:t>
            </a:r>
            <a:endParaRPr lang="en-US" sz="1400" dirty="0"/>
          </a:p>
        </p:txBody>
      </p:sp>
      <p:sp>
        <p:nvSpPr>
          <p:cNvPr id="13" name="Text 11"/>
          <p:cNvSpPr txBox="1"/>
          <p:nvPr/>
        </p:nvSpPr>
        <p:spPr>
          <a:xfrm>
            <a:off x="6409944" y="2834640"/>
            <a:ext cx="4846320" cy="59436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The cameras already watching your line, read in real time instead of after the fact.</a:t>
            </a:r>
            <a:endParaRPr lang="en-US" sz="1200" dirty="0"/>
          </a:p>
        </p:txBody>
      </p:sp>
      <p:sp>
        <p:nvSpPr>
          <p:cNvPr id="14" name="Shape 12"/>
          <p:cNvSpPr/>
          <p:nvPr/>
        </p:nvSpPr>
        <p:spPr>
          <a:xfrm>
            <a:off x="685800" y="3749040"/>
            <a:ext cx="5303520" cy="1371600"/>
          </a:xfrm>
          <a:prstGeom prst="rect">
            <a:avLst/>
          </a:prstGeom>
          <a:solidFill>
            <a:srgbClr val="141416"/>
          </a:solidFill>
          <a:ln w="9525">
            <a:solidFill>
              <a:srgbClr val="2A2A2E"/>
            </a:solidFill>
            <a:prstDash val="solid"/>
          </a:ln>
        </p:spPr>
      </p:sp>
      <p:sp>
        <p:nvSpPr>
          <p:cNvPr id="15" name="Shape 13"/>
          <p:cNvSpPr/>
          <p:nvPr/>
        </p:nvSpPr>
        <p:spPr>
          <a:xfrm>
            <a:off x="923544" y="3986784"/>
            <a:ext cx="347472" cy="347472"/>
          </a:xfrm>
          <a:prstGeom prst="rect">
            <a:avLst/>
          </a:prstGeom>
          <a:solidFill>
            <a:srgbClr val="FFD400"/>
          </a:solidFill>
          <a:ln w="6350">
            <a:solidFill>
              <a:srgbClr val="FFD400"/>
            </a:solidFill>
            <a:prstDash val="solid"/>
          </a:ln>
        </p:spPr>
      </p:sp>
      <p:sp>
        <p:nvSpPr>
          <p:cNvPr id="16" name="Text 14"/>
          <p:cNvSpPr txBox="1"/>
          <p:nvPr/>
        </p:nvSpPr>
        <p:spPr>
          <a:xfrm>
            <a:off x="923544" y="3986784"/>
            <a:ext cx="347472" cy="347472"/>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03</a:t>
            </a:r>
            <a:endParaRPr lang="en-US" sz="1300" dirty="0"/>
          </a:p>
        </p:txBody>
      </p:sp>
      <p:sp>
        <p:nvSpPr>
          <p:cNvPr id="17" name="Text 15"/>
          <p:cNvSpPr txBox="1"/>
          <p:nvPr/>
        </p:nvSpPr>
        <p:spPr>
          <a:xfrm>
            <a:off x="1435608" y="3968496"/>
            <a:ext cx="4206240" cy="36576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Industrial IoT</a:t>
            </a:r>
            <a:endParaRPr lang="en-US" sz="1400" dirty="0"/>
          </a:p>
        </p:txBody>
      </p:sp>
      <p:sp>
        <p:nvSpPr>
          <p:cNvPr id="18" name="Text 16"/>
          <p:cNvSpPr txBox="1"/>
          <p:nvPr/>
        </p:nvSpPr>
        <p:spPr>
          <a:xfrm>
            <a:off x="923544" y="4434840"/>
            <a:ext cx="4846320" cy="59436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Sensor and machine data pulled into something that predicts rather than logs.</a:t>
            </a:r>
            <a:endParaRPr lang="en-US" sz="1200" dirty="0"/>
          </a:p>
        </p:txBody>
      </p:sp>
      <p:sp>
        <p:nvSpPr>
          <p:cNvPr id="19" name="Shape 17"/>
          <p:cNvSpPr/>
          <p:nvPr/>
        </p:nvSpPr>
        <p:spPr>
          <a:xfrm>
            <a:off x="6172200" y="3749040"/>
            <a:ext cx="5303520" cy="1371600"/>
          </a:xfrm>
          <a:prstGeom prst="rect">
            <a:avLst/>
          </a:prstGeom>
          <a:solidFill>
            <a:srgbClr val="141416"/>
          </a:solidFill>
          <a:ln w="9525">
            <a:solidFill>
              <a:srgbClr val="2A2A2E"/>
            </a:solidFill>
            <a:prstDash val="solid"/>
          </a:ln>
        </p:spPr>
      </p:sp>
      <p:sp>
        <p:nvSpPr>
          <p:cNvPr id="20" name="Shape 18"/>
          <p:cNvSpPr/>
          <p:nvPr/>
        </p:nvSpPr>
        <p:spPr>
          <a:xfrm>
            <a:off x="6409944" y="3986784"/>
            <a:ext cx="347472" cy="347472"/>
          </a:xfrm>
          <a:prstGeom prst="rect">
            <a:avLst/>
          </a:prstGeom>
          <a:solidFill>
            <a:srgbClr val="FFD400"/>
          </a:solidFill>
          <a:ln w="6350">
            <a:solidFill>
              <a:srgbClr val="FFD400"/>
            </a:solidFill>
            <a:prstDash val="solid"/>
          </a:ln>
        </p:spPr>
      </p:sp>
      <p:sp>
        <p:nvSpPr>
          <p:cNvPr id="21" name="Text 19"/>
          <p:cNvSpPr txBox="1"/>
          <p:nvPr/>
        </p:nvSpPr>
        <p:spPr>
          <a:xfrm>
            <a:off x="6409944" y="3986784"/>
            <a:ext cx="347472" cy="347472"/>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04</a:t>
            </a:r>
            <a:endParaRPr lang="en-US" sz="1300" dirty="0"/>
          </a:p>
        </p:txBody>
      </p:sp>
      <p:sp>
        <p:nvSpPr>
          <p:cNvPr id="22" name="Text 20"/>
          <p:cNvSpPr txBox="1"/>
          <p:nvPr/>
        </p:nvSpPr>
        <p:spPr>
          <a:xfrm>
            <a:off x="6922008" y="3968496"/>
            <a:ext cx="4206240" cy="36576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Intelligent software</a:t>
            </a:r>
            <a:endParaRPr lang="en-US" sz="1400" dirty="0"/>
          </a:p>
        </p:txBody>
      </p:sp>
      <p:sp>
        <p:nvSpPr>
          <p:cNvPr id="23" name="Text 21"/>
          <p:cNvSpPr txBox="1"/>
          <p:nvPr/>
        </p:nvSpPr>
        <p:spPr>
          <a:xfrm>
            <a:off x="6409944" y="4434840"/>
            <a:ext cx="4846320" cy="59436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The scheduling, documentation and reconciliation your people currently do by hand.</a:t>
            </a:r>
            <a:endParaRPr lang="en-US" sz="1200" dirty="0"/>
          </a:p>
        </p:txBody>
      </p:sp>
      <p:sp>
        <p:nvSpPr>
          <p:cNvPr id="24" name="Text 22"/>
          <p:cNvSpPr txBox="1"/>
          <p:nvPr/>
        </p:nvSpPr>
        <p:spPr>
          <a:xfrm>
            <a:off x="685800" y="5486400"/>
            <a:ext cx="10515600" cy="731520"/>
          </a:xfrm>
          <a:prstGeom prst="rect">
            <a:avLst/>
          </a:prstGeom>
          <a:noFill/>
          <a:ln/>
        </p:spPr>
        <p:txBody>
          <a:bodyPr wrap="square" lIns="0" tIns="0" rIns="0" bIns="0" rtlCol="0" anchor="t"/>
          <a:lstStyle/>
          <a:p>
            <a:pPr indent="0" marL="0">
              <a:lnSpc>
                <a:spcPts val="2100"/>
              </a:lnSpc>
              <a:buNone/>
            </a:pPr>
            <a:r>
              <a:rPr lang="en-US" sz="1400" dirty="0">
                <a:solidFill>
                  <a:srgbClr val="9D9D97"/>
                </a:solidFill>
                <a:latin typeface="Arial" pitchFamily="34" charset="0"/>
                <a:ea typeface="Arial" pitchFamily="34" charset="-122"/>
                <a:cs typeface="Arial" pitchFamily="34" charset="-120"/>
              </a:rPr>
              <a:t>We are deliberately not a vision company or a maintenance company. Weeks one and two exist because we do not assume we already know which of these your plant needs.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777240"/>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09   /   NEXT STEP</a:t>
            </a:r>
            <a:endParaRPr lang="en-US" sz="1100" dirty="0"/>
          </a:p>
        </p:txBody>
      </p:sp>
      <p:sp>
        <p:nvSpPr>
          <p:cNvPr id="3" name="Text 1"/>
          <p:cNvSpPr txBox="1"/>
          <p:nvPr/>
        </p:nvSpPr>
        <p:spPr>
          <a:xfrm>
            <a:off x="685800" y="1234440"/>
            <a:ext cx="10332720" cy="1371600"/>
          </a:xfrm>
          <a:prstGeom prst="rect">
            <a:avLst/>
          </a:prstGeom>
          <a:noFill/>
          <a:ln/>
        </p:spPr>
        <p:txBody>
          <a:bodyPr wrap="square" lIns="0" tIns="0" rIns="0" bIns="0" rtlCol="0" anchor="t"/>
          <a:lstStyle/>
          <a:p>
            <a:pPr indent="0" marL="0">
              <a:lnSpc>
                <a:spcPts val="5088"/>
              </a:lnSpc>
              <a:buNone/>
            </a:pPr>
            <a:r>
              <a:rPr lang="en-US" sz="4800" b="1" dirty="0">
                <a:solidFill>
                  <a:srgbClr val="EDEDEA"/>
                </a:solidFill>
                <a:latin typeface="Arial" pitchFamily="34" charset="0"/>
                <a:ea typeface="Arial" pitchFamily="34" charset="-122"/>
                <a:cs typeface="Arial" pitchFamily="34" charset="-120"/>
              </a:rPr>
              <a:t>An hour on your floor.</a:t>
            </a:r>
            <a:endParaRPr lang="en-US" sz="4800" dirty="0"/>
          </a:p>
        </p:txBody>
      </p:sp>
      <p:sp>
        <p:nvSpPr>
          <p:cNvPr id="4" name="Text 2"/>
          <p:cNvSpPr txBox="1"/>
          <p:nvPr/>
        </p:nvSpPr>
        <p:spPr>
          <a:xfrm>
            <a:off x="685800" y="2697480"/>
            <a:ext cx="8595360" cy="1097280"/>
          </a:xfrm>
          <a:prstGeom prst="rect">
            <a:avLst/>
          </a:prstGeom>
          <a:noFill/>
          <a:ln/>
        </p:spPr>
        <p:txBody>
          <a:bodyPr wrap="square" lIns="0" tIns="0" rIns="0" bIns="0" rtlCol="0" anchor="t"/>
          <a:lstStyle/>
          <a:p>
            <a:pPr indent="0" marL="0">
              <a:lnSpc>
                <a:spcPts val="2400"/>
              </a:lnSpc>
              <a:buNone/>
            </a:pPr>
            <a:r>
              <a:rPr lang="en-US" sz="1600" dirty="0">
                <a:solidFill>
                  <a:srgbClr val="9D9D97"/>
                </a:solidFill>
                <a:latin typeface="Arial" pitchFamily="34" charset="0"/>
                <a:ea typeface="Arial" pitchFamily="34" charset="-122"/>
                <a:cs typeface="Arial" pitchFamily="34" charset="-120"/>
              </a:rPr>
              <a:t>Not a demo and not a proposal. We walk the plant, you show us where the time actually goes, and we tell you what we would build. No charge, and nothing follows unless you ask for it.</a:t>
            </a:r>
            <a:endParaRPr lang="en-US" sz="1600" dirty="0"/>
          </a:p>
        </p:txBody>
      </p:sp>
      <p:sp>
        <p:nvSpPr>
          <p:cNvPr id="5" name="Shape 3"/>
          <p:cNvSpPr/>
          <p:nvPr/>
        </p:nvSpPr>
        <p:spPr>
          <a:xfrm>
            <a:off x="685800" y="3977640"/>
            <a:ext cx="5303520" cy="1737360"/>
          </a:xfrm>
          <a:prstGeom prst="rect">
            <a:avLst/>
          </a:prstGeom>
          <a:solidFill>
            <a:srgbClr val="1C1C20"/>
          </a:solidFill>
          <a:ln w="9525">
            <a:solidFill>
              <a:srgbClr val="2A2A2E"/>
            </a:solidFill>
            <a:prstDash val="solid"/>
          </a:ln>
        </p:spPr>
      </p:sp>
      <p:sp>
        <p:nvSpPr>
          <p:cNvPr id="6" name="Shape 4"/>
          <p:cNvSpPr/>
          <p:nvPr/>
        </p:nvSpPr>
        <p:spPr>
          <a:xfrm>
            <a:off x="914400" y="4206240"/>
            <a:ext cx="384048" cy="384048"/>
          </a:xfrm>
          <a:prstGeom prst="rect">
            <a:avLst/>
          </a:prstGeom>
          <a:solidFill>
            <a:srgbClr val="FFD400"/>
          </a:solidFill>
          <a:ln w="6350">
            <a:solidFill>
              <a:srgbClr val="FFD400"/>
            </a:solidFill>
            <a:prstDash val="solid"/>
          </a:ln>
        </p:spPr>
      </p:sp>
      <p:sp>
        <p:nvSpPr>
          <p:cNvPr id="7" name="Text 5"/>
          <p:cNvSpPr txBox="1"/>
          <p:nvPr/>
        </p:nvSpPr>
        <p:spPr>
          <a:xfrm>
            <a:off x="914400" y="420624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A</a:t>
            </a:r>
            <a:endParaRPr lang="en-US" sz="1300" dirty="0"/>
          </a:p>
        </p:txBody>
      </p:sp>
      <p:sp>
        <p:nvSpPr>
          <p:cNvPr id="8" name="Text 6"/>
          <p:cNvSpPr txBox="1"/>
          <p:nvPr/>
        </p:nvSpPr>
        <p:spPr>
          <a:xfrm>
            <a:off x="1463040" y="4206240"/>
            <a:ext cx="4206240" cy="36576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Free retrospective backtest</a:t>
            </a:r>
            <a:endParaRPr lang="en-US" sz="1400" dirty="0"/>
          </a:p>
        </p:txBody>
      </p:sp>
      <p:sp>
        <p:nvSpPr>
          <p:cNvPr id="9" name="Text 7"/>
          <p:cNvSpPr txBox="1"/>
          <p:nvPr/>
        </p:nvSpPr>
        <p:spPr>
          <a:xfrm>
            <a:off x="914400" y="4709160"/>
            <a:ext cx="4846320" cy="91440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Give us twelve months of your historical data. We run our model against it and show you what it would have flagged. A week of our time, none of yours.</a:t>
            </a:r>
            <a:endParaRPr lang="en-US" sz="1200" dirty="0"/>
          </a:p>
        </p:txBody>
      </p:sp>
      <p:sp>
        <p:nvSpPr>
          <p:cNvPr id="10" name="Shape 8"/>
          <p:cNvSpPr/>
          <p:nvPr/>
        </p:nvSpPr>
        <p:spPr>
          <a:xfrm>
            <a:off x="6172200" y="3977640"/>
            <a:ext cx="5303520" cy="1737360"/>
          </a:xfrm>
          <a:prstGeom prst="rect">
            <a:avLst/>
          </a:prstGeom>
          <a:solidFill>
            <a:srgbClr val="141416"/>
          </a:solidFill>
          <a:ln w="9525">
            <a:solidFill>
              <a:srgbClr val="2A2A2E"/>
            </a:solidFill>
            <a:prstDash val="solid"/>
          </a:ln>
        </p:spPr>
      </p:sp>
      <p:sp>
        <p:nvSpPr>
          <p:cNvPr id="11" name="Shape 9"/>
          <p:cNvSpPr/>
          <p:nvPr/>
        </p:nvSpPr>
        <p:spPr>
          <a:xfrm>
            <a:off x="6400800" y="4206240"/>
            <a:ext cx="384048" cy="384048"/>
          </a:xfrm>
          <a:prstGeom prst="rect">
            <a:avLst/>
          </a:prstGeom>
          <a:solidFill>
            <a:srgbClr val="FFD400"/>
          </a:solidFill>
          <a:ln w="6350">
            <a:solidFill>
              <a:srgbClr val="FFD400"/>
            </a:solidFill>
            <a:prstDash val="solid"/>
          </a:ln>
        </p:spPr>
      </p:sp>
      <p:sp>
        <p:nvSpPr>
          <p:cNvPr id="12" name="Text 10"/>
          <p:cNvSpPr txBox="1"/>
          <p:nvPr/>
        </p:nvSpPr>
        <p:spPr>
          <a:xfrm>
            <a:off x="6400800" y="420624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B</a:t>
            </a:r>
            <a:endParaRPr lang="en-US" sz="1300" dirty="0"/>
          </a:p>
        </p:txBody>
      </p:sp>
      <p:sp>
        <p:nvSpPr>
          <p:cNvPr id="13" name="Text 11"/>
          <p:cNvSpPr txBox="1"/>
          <p:nvPr/>
        </p:nvSpPr>
        <p:spPr>
          <a:xfrm>
            <a:off x="6949440" y="4206240"/>
            <a:ext cx="4206240" cy="36576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Or simply a walk</a:t>
            </a:r>
            <a:endParaRPr lang="en-US" sz="1400" dirty="0"/>
          </a:p>
        </p:txBody>
      </p:sp>
      <p:sp>
        <p:nvSpPr>
          <p:cNvPr id="14" name="Text 12"/>
          <p:cNvSpPr txBox="1"/>
          <p:nvPr/>
        </p:nvSpPr>
        <p:spPr>
          <a:xfrm>
            <a:off x="6400800" y="4709160"/>
            <a:ext cx="4846320" cy="91440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If we walk your floor and find nothing worth building, we will tell you that instead of writing a proposal.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1463040"/>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ZESTER PRODUCT STUDIO</a:t>
            </a:r>
            <a:endParaRPr lang="en-US" sz="1100" dirty="0"/>
          </a:p>
        </p:txBody>
      </p:sp>
      <p:sp>
        <p:nvSpPr>
          <p:cNvPr id="3" name="Text 1"/>
          <p:cNvSpPr txBox="1"/>
          <p:nvPr/>
        </p:nvSpPr>
        <p:spPr>
          <a:xfrm>
            <a:off x="685800" y="1920240"/>
            <a:ext cx="10332720" cy="1371600"/>
          </a:xfrm>
          <a:prstGeom prst="rect">
            <a:avLst/>
          </a:prstGeom>
          <a:noFill/>
          <a:ln/>
        </p:spPr>
        <p:txBody>
          <a:bodyPr wrap="square" lIns="0" tIns="0" rIns="0" bIns="0" rtlCol="0" anchor="t"/>
          <a:lstStyle/>
          <a:p>
            <a:pPr indent="0" marL="0">
              <a:lnSpc>
                <a:spcPts val="4876"/>
              </a:lnSpc>
              <a:buNone/>
            </a:pPr>
            <a:r>
              <a:rPr lang="en-US" sz="4600" b="1" dirty="0">
                <a:solidFill>
                  <a:srgbClr val="EDEDEA"/>
                </a:solidFill>
                <a:latin typeface="Arial" pitchFamily="34" charset="0"/>
                <a:ea typeface="Arial" pitchFamily="34" charset="-122"/>
                <a:cs typeface="Arial" pitchFamily="34" charset="-120"/>
              </a:rPr>
              <a:t>Bring us a real problem.</a:t>
            </a:r>
            <a:endParaRPr lang="en-US" sz="4600" dirty="0"/>
          </a:p>
        </p:txBody>
      </p:sp>
      <p:sp>
        <p:nvSpPr>
          <p:cNvPr id="4" name="Text 2"/>
          <p:cNvSpPr txBox="1"/>
          <p:nvPr/>
        </p:nvSpPr>
        <p:spPr>
          <a:xfrm>
            <a:off x="685800" y="3749040"/>
            <a:ext cx="7315200" cy="365760"/>
          </a:xfrm>
          <a:prstGeom prst="rect">
            <a:avLst/>
          </a:prstGeom>
          <a:noFill/>
          <a:ln/>
        </p:spPr>
        <p:txBody>
          <a:bodyPr wrap="square" lIns="0" tIns="0" rIns="0" bIns="0" rtlCol="0" anchor="ctr"/>
          <a:lstStyle/>
          <a:p>
            <a:pPr indent="0" marL="0">
              <a:buNone/>
            </a:pPr>
            <a:r>
              <a:rPr lang="en-US" sz="1700" b="1" dirty="0">
                <a:solidFill>
                  <a:srgbClr val="EDEDEA"/>
                </a:solidFill>
                <a:latin typeface="Arial" pitchFamily="34" charset="0"/>
                <a:ea typeface="Arial" pitchFamily="34" charset="-122"/>
                <a:cs typeface="Arial" pitchFamily="34" charset="-120"/>
              </a:rPr>
              <a:t>Krunal Chavda   /   Founder</a:t>
            </a:r>
            <a:endParaRPr lang="en-US" sz="1700" dirty="0"/>
          </a:p>
        </p:txBody>
      </p:sp>
      <p:sp>
        <p:nvSpPr>
          <p:cNvPr id="5" name="Text 3"/>
          <p:cNvSpPr txBox="1"/>
          <p:nvPr/>
        </p:nvSpPr>
        <p:spPr>
          <a:xfrm>
            <a:off x="685800" y="4206240"/>
            <a:ext cx="7315200" cy="822960"/>
          </a:xfrm>
          <a:prstGeom prst="rect">
            <a:avLst/>
          </a:prstGeom>
          <a:noFill/>
          <a:ln/>
        </p:spPr>
        <p:txBody>
          <a:bodyPr wrap="square" lIns="0" tIns="0" rIns="0" bIns="0" rtlCol="0" anchor="ctr"/>
          <a:lstStyle/>
          <a:p>
            <a:pPr indent="0" marL="0">
              <a:lnSpc>
                <a:spcPts val="2200"/>
              </a:lnSpc>
              <a:buNone/>
            </a:pPr>
            <a:r>
              <a:rPr lang="en-US" sz="1300" dirty="0">
                <a:solidFill>
                  <a:srgbClr val="FFD400"/>
                </a:solidFill>
                <a:latin typeface="Courier New" pitchFamily="34" charset="0"/>
                <a:ea typeface="Courier New" pitchFamily="34" charset="-122"/>
                <a:cs typeface="Courier New" pitchFamily="34" charset="-120"/>
              </a:rPr>
              <a:t>partnerships@zesterproductstudio.com</a:t>
            </a:r>
            <a:endParaRPr lang="en-US" sz="1300" dirty="0"/>
          </a:p>
          <a:p>
            <a:pPr indent="0" marL="0">
              <a:lnSpc>
                <a:spcPts val="2200"/>
              </a:lnSpc>
              <a:buNone/>
            </a:pPr>
            <a:r>
              <a:rPr lang="en-US" sz="1300" dirty="0">
                <a:solidFill>
                  <a:srgbClr val="FFD400"/>
                </a:solidFill>
                <a:latin typeface="Courier New" pitchFamily="34" charset="0"/>
                <a:ea typeface="Courier New" pitchFamily="34" charset="-122"/>
                <a:cs typeface="Courier New" pitchFamily="34" charset="-120"/>
              </a:rPr>
              <a:t>zesterproductstudio.com</a:t>
            </a:r>
            <a:endParaRPr lang="en-US" sz="1300" dirty="0"/>
          </a:p>
        </p:txBody>
      </p:sp>
      <p:sp>
        <p:nvSpPr>
          <p:cNvPr id="6" name="Text 4"/>
          <p:cNvSpPr txBox="1"/>
          <p:nvPr/>
        </p:nvSpPr>
        <p:spPr>
          <a:xfrm>
            <a:off x="685800" y="5303520"/>
            <a:ext cx="8686800" cy="822960"/>
          </a:xfrm>
          <a:prstGeom prst="rect">
            <a:avLst/>
          </a:prstGeom>
          <a:noFill/>
          <a:ln/>
        </p:spPr>
        <p:txBody>
          <a:bodyPr wrap="square" lIns="0" tIns="0" rIns="0" bIns="0" rtlCol="0" anchor="t"/>
          <a:lstStyle/>
          <a:p>
            <a:pPr indent="0" marL="0">
              <a:lnSpc>
                <a:spcPts val="1950"/>
              </a:lnSpc>
              <a:buNone/>
            </a:pPr>
            <a:r>
              <a:rPr lang="en-US" sz="1300" dirty="0">
                <a:solidFill>
                  <a:srgbClr val="9D9D97"/>
                </a:solidFill>
                <a:latin typeface="Arial" pitchFamily="34" charset="0"/>
                <a:ea typeface="Arial" pitchFamily="34" charset="-122"/>
                <a:cs typeface="Arial" pitchFamily="34" charset="-120"/>
              </a:rPr>
              <a:t>We take on work where the operational problem is specific and the constraints are real. If it is not a fit, we say so rather than scheduling a call to find out slowly.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Zester Client Deck</dc:title>
  <dc:subject>PptxGenJS Presentation</dc:subject>
  <dc:creator>Zester Product Studio</dc:creator>
  <cp:lastModifiedBy>Zester Product Studio</cp:lastModifiedBy>
  <cp:revision>1</cp:revision>
  <dcterms:created xsi:type="dcterms:W3CDTF">2026-09-05T12:16:07Z</dcterms:created>
  <dcterms:modified xsi:type="dcterms:W3CDTF">2026-09-05T12:16:07Z</dcterms:modified>
</cp:coreProperties>
</file>