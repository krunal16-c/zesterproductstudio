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FY25 revenue (Rs Cr)</c:v>
                </c:pt>
              </c:strCache>
            </c:strRef>
          </c:tx>
          <c:spPr>
            <a:solidFill>
              <a:srgbClr val="FFD400"/>
            </a:solidFill>
            <a:effectLst/>
          </c:spPr>
          <c:invertIfNegative val="0"/>
          <c:dLbls>
            <c:numFmt formatCode="0.0&quot;  Cr&quot;" sourceLinked="0"/>
            <c:txPr>
              <a:bodyPr/>
              <a:lstStyle/>
              <a:p>
                <a:pPr>
                  <a:defRPr b="0" i="0" strike="noStrike" sz="1200" u="none">
                    <a:solidFill>
                      <a:srgbClr val="EDEDEA"/>
                    </a:solidFill>
                    <a:latin typeface="Arial"/>
                  </a:defRPr>
                </a:pPr>
              </a:p>
            </c:txPr>
            <c:showLegendKey val="0"/>
            <c:showVal val="1"/>
            <c:showCatName val="0"/>
            <c:showSerName val="0"/>
            <c:showPercent val="0"/>
            <c:showBubbleSize val="0"/>
            <c:showLeaderLines val="0"/>
          </c:dLbls>
          <c:cat>
            <c:multiLvlStrRef>
              <c:f>Sheet1!$A$2:$A$4</c:f>
              <c:multiLvlStrCache>
                <c:ptCount val="3"/>
                <c:lvl>
                  <c:pt idx="0">
                    <c:v>Detect Technologies</c:v>
                  </c:pt>
                  <c:pt idx="1">
                    <c:v>Ripik.AI</c:v>
                  </c:pt>
                  <c:pt idx="2">
                    <c:v>Bert Labs</c:v>
                  </c:pt>
                </c:lvl>
              </c:multiLvlStrCache>
            </c:multiLvlStrRef>
          </c:cat>
          <c:val>
            <c:numRef>
              <c:f>Sheet1!$B$2:$B$4</c:f>
              <c:numCache>
                <c:formatCode>General</c:formatCode>
                <c:ptCount val="3"/>
                <c:pt idx="0">
                  <c:v>46.4</c:v>
                </c:pt>
                <c:pt idx="1">
                  <c:v>23.5</c:v>
                </c:pt>
                <c:pt idx="2">
                  <c:v>1.3</c:v>
                </c:pt>
              </c:numCache>
            </c:numRef>
          </c:val>
        </c:ser>
        <c:dLbls>
          <c:numFmt formatCode="0.0&quot;  Cr&quot;" sourceLinked="0"/>
          <c:txPr>
            <a:bodyPr/>
            <a:lstStyle/>
            <a:p>
              <a:pPr>
                <a:defRPr b="0" i="0" strike="noStrike" sz="1200" u="none">
                  <a:solidFill>
                    <a:srgbClr val="EDEDE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9D9D97"/>
                </a:solidFill>
                <a:latin typeface="Arial"/>
              </a:defRPr>
            </a:pPr>
            <a:endParaRPr lang="en-US"/>
          </a:p>
        </c:txPr>
        <c:crossAx val="2094734552"/>
        <c:crosses val="autoZero"/>
        <c:auto val="1"/>
        <c:lblAlgn val="ctr"/>
        <c:noMultiLvlLbl val="1"/>
      </c:catAx>
      <c:valAx>
        <c:axId val="2094734552"/>
        <c:scaling>
          <c:orientation val="minMax"/>
          <c:max val="55"/>
          <c:min val="0"/>
        </c:scaling>
        <c:delete val="0"/>
        <c:axPos val="b"/>
        <c:majorGridlines>
          <c:spPr>
            <a:ln w="9525" cap="flat">
              <a:solidFill>
                <a:srgbClr val="2A2A2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6B65"/>
                </a:solidFill>
                <a:latin typeface="Arial"/>
              </a:defRPr>
            </a:pPr>
            <a:endParaRPr lang="en-US"/>
          </a:p>
        </c:txPr>
        <c:crossAx val="2094734554"/>
        <c:crosses val="autoZero"/>
        <c:crossBetween val="between"/>
      </c:valAx>
      <c:spPr>
        <a:solidFill>
          <a:srgbClr val="0B0B0C"/>
        </a:solidFill>
        <a:ln>
          <a:noFill/>
        </a:ln>
        <a:effectLst/>
      </c:spPr>
    </c:plotArea>
    <c:plotVisOnly val="1"/>
    <c:dispBlanksAs val="span"/>
  </c:chart>
  <c:spPr>
    <a:solidFill>
      <a:srgbClr val="0B0B0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market failure, not the company. The number 10,500 is drug manufacturing units alone; the wider factory base is far larger. Do not overclaim it - say 'in pharma alone' if 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slide. The gap is structural, not an execution failure by incumbents. That distinction is what makes it defensible - if it were an execution gap someone well-capitalised would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we think we can win where funded companies have not: we are not selling the same thing. They sell a licence that requires an average problem. We sell engineering time against a specific one. Different economics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46% offline figure is from a 7,835-MSME sample, which is the largest credible Indian survey found. It is the number that surprises people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capex: private capex rose 67% in H1 FY26 but Adani and Reliance are 28% of it and mid-market is patchy. We deliberately do not build messaging on the capex cycle. Say so if asked - it shows we read past the headline.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defensibility answer. The moat is not technology, it is a business-model conflict our competitors cannot resolve. Expect this question and lead with it before it is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diagnosis phase is the product difference, and it is also the reason we cannot be commoditised by a licence vendor. They must know the answer in advance. We are paid to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this is a services model with services economics. The bet is not software margin, it is that proof plus cluster density compounds into pricing power and a repeatable build we can eventually productise.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Geography is the compounding asset. This is why a Gujarat studio beats a Bengaluru SaaS company in this segment - WEF's own assessment is that India lacks translation at scale rather than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early rather than burying it. Volunteering the weakness is the single most credible thing in the deck, and it sets the tone for how we will report once someone is on the cap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push on how this becomes venture-scale: it does not from services alone. The honest answer is that we expect a repeatable build to emerge from the first ten sprints, and that is the productisation path. Do not pretend we know which 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let an investor find a risk we have not already named. The repeatability risk is the one a good investor will press hardest - answer it honestly rather than claiming a platform that does not exist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naming the specific use of funds. Vague asks read as unserious. Engineers and runway to buy three references is concrete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777240"/>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ZESTER PRODUCT STUDIO   /   SEED   /   AHMEDABAD, INDIA</a:t>
            </a:r>
            <a:endParaRPr lang="en-US" sz="1100" dirty="0"/>
          </a:p>
        </p:txBody>
      </p:sp>
      <p:sp>
        <p:nvSpPr>
          <p:cNvPr id="3" name="Text 1"/>
          <p:cNvSpPr txBox="1"/>
          <p:nvPr/>
        </p:nvSpPr>
        <p:spPr>
          <a:xfrm>
            <a:off x="685800" y="1371600"/>
            <a:ext cx="10515600" cy="1371600"/>
          </a:xfrm>
          <a:prstGeom prst="rect">
            <a:avLst/>
          </a:prstGeom>
          <a:noFill/>
          <a:ln/>
        </p:spPr>
        <p:txBody>
          <a:bodyPr wrap="square" lIns="0" tIns="0" rIns="0" bIns="0" rtlCol="0" anchor="t"/>
          <a:lstStyle/>
          <a:p>
            <a:pPr indent="0" marL="0">
              <a:lnSpc>
                <a:spcPts val="4664"/>
              </a:lnSpc>
              <a:buNone/>
            </a:pPr>
            <a:r>
              <a:rPr lang="en-US" sz="4400" b="1" dirty="0">
                <a:solidFill>
                  <a:srgbClr val="EDEDEA"/>
                </a:solidFill>
                <a:latin typeface="Arial" pitchFamily="34" charset="0"/>
                <a:ea typeface="Arial" pitchFamily="34" charset="-122"/>
                <a:cs typeface="Arial" pitchFamily="34" charset="-120"/>
              </a:rPr>
              <a:t>India has 10,500 factories that</a:t>
            </a:r>
            <a:endParaRPr lang="en-US" sz="4400" dirty="0"/>
          </a:p>
          <a:p>
            <a:pPr indent="0" marL="0">
              <a:lnSpc>
                <a:spcPts val="4664"/>
              </a:lnSpc>
              <a:buNone/>
            </a:pPr>
            <a:r>
              <a:rPr lang="en-US" sz="4400" b="1" dirty="0">
                <a:solidFill>
                  <a:srgbClr val="EDEDEA"/>
                </a:solidFill>
                <a:latin typeface="Arial" pitchFamily="34" charset="0"/>
                <a:ea typeface="Arial" pitchFamily="34" charset="-122"/>
                <a:cs typeface="Arial" pitchFamily="34" charset="-120"/>
              </a:rPr>
              <a:t>cannot buy the thing they need.</a:t>
            </a:r>
            <a:endParaRPr lang="en-US" sz="4400" dirty="0"/>
          </a:p>
        </p:txBody>
      </p:sp>
      <p:sp>
        <p:nvSpPr>
          <p:cNvPr id="4" name="Text 2"/>
          <p:cNvSpPr txBox="1"/>
          <p:nvPr/>
        </p:nvSpPr>
        <p:spPr>
          <a:xfrm>
            <a:off x="685800" y="3931920"/>
            <a:ext cx="8412480" cy="1371600"/>
          </a:xfrm>
          <a:prstGeom prst="rect">
            <a:avLst/>
          </a:prstGeom>
          <a:noFill/>
          <a:ln/>
        </p:spPr>
        <p:txBody>
          <a:bodyPr wrap="square" lIns="0" tIns="0" rIns="0" bIns="0" rtlCol="0" anchor="t"/>
          <a:lstStyle/>
          <a:p>
            <a:pPr indent="0" marL="0">
              <a:lnSpc>
                <a:spcPts val="2250"/>
              </a:lnSpc>
              <a:buNone/>
            </a:pPr>
            <a:r>
              <a:rPr lang="en-US" sz="1500" dirty="0">
                <a:solidFill>
                  <a:srgbClr val="9D9D97"/>
                </a:solidFill>
                <a:latin typeface="Arial" pitchFamily="34" charset="0"/>
                <a:ea typeface="Arial" pitchFamily="34" charset="-122"/>
                <a:cs typeface="Arial" pitchFamily="34" charset="-120"/>
              </a:rPr>
              <a:t>Industrial AI in India sells either a software licence or a crore-scale programme. Between them sits every mid-market plant with a problem too specific for a product and too small for a consultancy. We build for that gap: two engineers, six weeks, one working system the plant owns outright.</a:t>
            </a:r>
            <a:endParaRPr lang="en-US" sz="1500" dirty="0"/>
          </a:p>
        </p:txBody>
      </p:sp>
      <p:sp>
        <p:nvSpPr>
          <p:cNvPr id="5" name="Text 3"/>
          <p:cNvSpPr txBox="1"/>
          <p:nvPr/>
        </p:nvSpPr>
        <p:spPr>
          <a:xfrm>
            <a:off x="685800" y="5852160"/>
            <a:ext cx="10058400" cy="274320"/>
          </a:xfrm>
          <a:prstGeom prst="rect">
            <a:avLst/>
          </a:prstGeom>
          <a:noFill/>
          <a:ln/>
        </p:spPr>
        <p:txBody>
          <a:bodyPr wrap="square" lIns="0" tIns="0" rIns="0" bIns="0" rtlCol="0" anchor="ctr"/>
          <a:lstStyle/>
          <a:p>
            <a:pPr indent="0" marL="0">
              <a:buNone/>
            </a:pPr>
            <a:r>
              <a:rPr lang="en-US" sz="1000" spc="140" kern="0" dirty="0">
                <a:solidFill>
                  <a:srgbClr val="6B6B65"/>
                </a:solidFill>
                <a:latin typeface="Courier New" pitchFamily="34" charset="0"/>
                <a:ea typeface="Courier New" pitchFamily="34" charset="-122"/>
                <a:cs typeface="Courier New" pitchFamily="34" charset="-120"/>
              </a:rPr>
              <a:t>KRUNAL CHAVDA   /   FOUNDER   /   partnerships@zesterproductstudio.com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01   /   MARKET STRUCTURE</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The market is a barbell. The middle is empty.</a:t>
            </a:r>
            <a:endParaRPr lang="en-US" sz="3200" dirty="0"/>
          </a:p>
        </p:txBody>
      </p:sp>
      <p:sp>
        <p:nvSpPr>
          <p:cNvPr id="4" name="Shape 2"/>
          <p:cNvSpPr/>
          <p:nvPr/>
        </p:nvSpPr>
        <p:spPr>
          <a:xfrm>
            <a:off x="685800" y="2103120"/>
            <a:ext cx="3291840" cy="3017520"/>
          </a:xfrm>
          <a:prstGeom prst="rect">
            <a:avLst/>
          </a:prstGeom>
          <a:solidFill>
            <a:srgbClr val="141416"/>
          </a:solidFill>
          <a:ln w="9525">
            <a:solidFill>
              <a:srgbClr val="2A2A2E"/>
            </a:solidFill>
            <a:prstDash val="solid"/>
          </a:ln>
        </p:spPr>
      </p:sp>
      <p:sp>
        <p:nvSpPr>
          <p:cNvPr id="5" name="Text 3"/>
          <p:cNvSpPr txBox="1"/>
          <p:nvPr/>
        </p:nvSpPr>
        <p:spPr>
          <a:xfrm>
            <a:off x="914400" y="2331720"/>
            <a:ext cx="283464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PRODUCT COMPANIES</a:t>
            </a:r>
            <a:endParaRPr lang="en-US" sz="1000" dirty="0"/>
          </a:p>
        </p:txBody>
      </p:sp>
      <p:sp>
        <p:nvSpPr>
          <p:cNvPr id="6" name="Text 4"/>
          <p:cNvSpPr txBox="1"/>
          <p:nvPr/>
        </p:nvSpPr>
        <p:spPr>
          <a:xfrm>
            <a:off x="914400" y="2788920"/>
            <a:ext cx="2834640" cy="210312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Ripik.AI, Detect, SwitchOn, Infinite Uptime.</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Sell a licence, per plant, per year.</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Constraint: can only build what repeats across a hundred plants.</a:t>
            </a:r>
            <a:endParaRPr lang="en-US" sz="1200" dirty="0"/>
          </a:p>
        </p:txBody>
      </p:sp>
      <p:sp>
        <p:nvSpPr>
          <p:cNvPr id="7" name="Shape 5"/>
          <p:cNvSpPr/>
          <p:nvPr/>
        </p:nvSpPr>
        <p:spPr>
          <a:xfrm>
            <a:off x="4434840" y="2103120"/>
            <a:ext cx="3291840" cy="3017520"/>
          </a:xfrm>
          <a:prstGeom prst="rect">
            <a:avLst/>
          </a:prstGeom>
          <a:solidFill>
            <a:srgbClr val="1C1C20"/>
          </a:solidFill>
          <a:ln w="9525">
            <a:solidFill>
              <a:srgbClr val="2A2A2E"/>
            </a:solidFill>
            <a:prstDash val="solid"/>
          </a:ln>
        </p:spPr>
      </p:sp>
      <p:sp>
        <p:nvSpPr>
          <p:cNvPr id="8" name="Text 6"/>
          <p:cNvSpPr txBox="1"/>
          <p:nvPr/>
        </p:nvSpPr>
        <p:spPr>
          <a:xfrm>
            <a:off x="4663440" y="2331720"/>
            <a:ext cx="283464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THE MIDDLE</a:t>
            </a:r>
            <a:endParaRPr lang="en-US" sz="1000" dirty="0"/>
          </a:p>
        </p:txBody>
      </p:sp>
      <p:sp>
        <p:nvSpPr>
          <p:cNvPr id="9" name="Text 7"/>
          <p:cNvSpPr txBox="1"/>
          <p:nvPr/>
        </p:nvSpPr>
        <p:spPr>
          <a:xfrm>
            <a:off x="4663440" y="2743200"/>
            <a:ext cx="2834640" cy="731520"/>
          </a:xfrm>
          <a:prstGeom prst="rect">
            <a:avLst/>
          </a:prstGeom>
          <a:noFill/>
          <a:ln/>
        </p:spPr>
        <p:txBody>
          <a:bodyPr wrap="square" lIns="0" tIns="0" rIns="0" bIns="0" rtlCol="0" anchor="ctr"/>
          <a:lstStyle/>
          <a:p>
            <a:pPr indent="0" marL="0">
              <a:buNone/>
            </a:pPr>
            <a:r>
              <a:rPr lang="en-US" sz="3000" b="1" dirty="0">
                <a:solidFill>
                  <a:srgbClr val="FFD400"/>
                </a:solidFill>
                <a:latin typeface="Arial" pitchFamily="34" charset="0"/>
                <a:ea typeface="Arial" pitchFamily="34" charset="-122"/>
                <a:cs typeface="Arial" pitchFamily="34" charset="-120"/>
              </a:rPr>
              <a:t>Nobody</a:t>
            </a:r>
            <a:endParaRPr lang="en-US" sz="3000" dirty="0"/>
          </a:p>
        </p:txBody>
      </p:sp>
      <p:sp>
        <p:nvSpPr>
          <p:cNvPr id="10" name="Text 8"/>
          <p:cNvSpPr txBox="1"/>
          <p:nvPr/>
        </p:nvSpPr>
        <p:spPr>
          <a:xfrm>
            <a:off x="4663440" y="3566160"/>
            <a:ext cx="2834640" cy="137160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A search for embedded or forward-deployed engineering in Indian manufacturing returns US agencies and no domestic equivalent.</a:t>
            </a:r>
            <a:endParaRPr lang="en-US" sz="1200" dirty="0"/>
          </a:p>
        </p:txBody>
      </p:sp>
      <p:sp>
        <p:nvSpPr>
          <p:cNvPr id="11" name="Shape 9"/>
          <p:cNvSpPr/>
          <p:nvPr/>
        </p:nvSpPr>
        <p:spPr>
          <a:xfrm>
            <a:off x="8183880" y="2103120"/>
            <a:ext cx="3291840" cy="3017520"/>
          </a:xfrm>
          <a:prstGeom prst="rect">
            <a:avLst/>
          </a:prstGeom>
          <a:solidFill>
            <a:srgbClr val="141416"/>
          </a:solidFill>
          <a:ln w="9525">
            <a:solidFill>
              <a:srgbClr val="2A2A2E"/>
            </a:solidFill>
            <a:prstDash val="solid"/>
          </a:ln>
        </p:spPr>
      </p:sp>
      <p:sp>
        <p:nvSpPr>
          <p:cNvPr id="12" name="Text 10"/>
          <p:cNvSpPr txBox="1"/>
          <p:nvPr/>
        </p:nvSpPr>
        <p:spPr>
          <a:xfrm>
            <a:off x="8412480" y="2331720"/>
            <a:ext cx="283464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SERVICES FIRMS</a:t>
            </a:r>
            <a:endParaRPr lang="en-US" sz="1000" dirty="0"/>
          </a:p>
        </p:txBody>
      </p:sp>
      <p:sp>
        <p:nvSpPr>
          <p:cNvPr id="13" name="Text 11"/>
          <p:cNvSpPr txBox="1"/>
          <p:nvPr/>
        </p:nvSpPr>
        <p:spPr>
          <a:xfrm>
            <a:off x="8412480" y="2788920"/>
            <a:ext cx="2834640" cy="210312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LTTS, Tata Elxsi, Accenture Industry X.</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Multi-year transformation programmes.</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Constraint: deal floor near Rs 1 crore.</a:t>
            </a:r>
            <a:endParaRPr lang="en-US" sz="1200" dirty="0"/>
          </a:p>
        </p:txBody>
      </p:sp>
      <p:sp>
        <p:nvSpPr>
          <p:cNvPr id="14" name="Text 12"/>
          <p:cNvSpPr txBox="1"/>
          <p:nvPr/>
        </p:nvSpPr>
        <p:spPr>
          <a:xfrm>
            <a:off x="685800" y="5349240"/>
            <a:ext cx="10515600" cy="731520"/>
          </a:xfrm>
          <a:prstGeom prst="rect">
            <a:avLst/>
          </a:prstGeom>
          <a:noFill/>
          <a:ln/>
        </p:spPr>
        <p:txBody>
          <a:bodyPr wrap="square" lIns="0" tIns="0" rIns="0" bIns="0" rtlCol="0" anchor="t"/>
          <a:lstStyle/>
          <a:p>
            <a:pPr indent="0" marL="0">
              <a:lnSpc>
                <a:spcPts val="2100"/>
              </a:lnSpc>
              <a:buNone/>
            </a:pPr>
            <a:r>
              <a:rPr lang="en-US" sz="1400" dirty="0">
                <a:solidFill>
                  <a:srgbClr val="9D9D97"/>
                </a:solidFill>
                <a:latin typeface="Arial" pitchFamily="34" charset="0"/>
                <a:ea typeface="Arial" pitchFamily="34" charset="-122"/>
                <a:cs typeface="Arial" pitchFamily="34" charset="-120"/>
              </a:rPr>
              <a:t>Neither side is being lazy. Both are behaving correctly given their model, which is exactly why the gap is durable.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02   /   THE EVIDENCE</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The category leaders' revenue is the tell.</a:t>
            </a:r>
            <a:endParaRPr lang="en-US" sz="3200" dirty="0"/>
          </a:p>
        </p:txBody>
      </p:sp>
      <p:graphicFrame>
        <p:nvGraphicFramePr>
          <p:cNvPr id="4" name="Chart 0" descr=""/>
          <p:cNvGraphicFramePr/>
          <p:nvPr/>
        </p:nvGraphicFramePr>
        <p:xfrm>
          <a:off x="685800" y="2011680"/>
          <a:ext cx="603504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86600" y="2011680"/>
            <a:ext cx="4389120" cy="3108960"/>
          </a:xfrm>
          <a:prstGeom prst="rect">
            <a:avLst/>
          </a:prstGeom>
          <a:solidFill>
            <a:srgbClr val="1C1C20"/>
          </a:solidFill>
          <a:ln w="9525">
            <a:solidFill>
              <a:srgbClr val="2A2A2E"/>
            </a:solidFill>
            <a:prstDash val="solid"/>
          </a:ln>
        </p:spPr>
      </p:sp>
      <p:sp>
        <p:nvSpPr>
          <p:cNvPr id="6" name="Text 3"/>
          <p:cNvSpPr txBox="1"/>
          <p:nvPr/>
        </p:nvSpPr>
        <p:spPr>
          <a:xfrm>
            <a:off x="7360920" y="2286000"/>
            <a:ext cx="3840480" cy="365760"/>
          </a:xfrm>
          <a:prstGeom prst="rect">
            <a:avLst/>
          </a:prstGeom>
          <a:noFill/>
          <a:ln/>
        </p:spPr>
        <p:txBody>
          <a:bodyPr wrap="square" lIns="0" tIns="0" rIns="0" bIns="0" rtlCol="0" anchor="ctr"/>
          <a:lstStyle/>
          <a:p>
            <a:pPr indent="0" marL="0">
              <a:buNone/>
            </a:pPr>
            <a:r>
              <a:rPr lang="en-US" sz="1500" b="1" dirty="0">
                <a:solidFill>
                  <a:srgbClr val="EDEDEA"/>
                </a:solidFill>
                <a:latin typeface="Arial" pitchFamily="34" charset="0"/>
                <a:ea typeface="Arial" pitchFamily="34" charset="-122"/>
                <a:cs typeface="Arial" pitchFamily="34" charset="-120"/>
              </a:rPr>
              <a:t>What this means</a:t>
            </a:r>
            <a:endParaRPr lang="en-US" sz="1500" dirty="0"/>
          </a:p>
        </p:txBody>
      </p:sp>
      <p:sp>
        <p:nvSpPr>
          <p:cNvPr id="7" name="Text 4"/>
          <p:cNvSpPr txBox="1"/>
          <p:nvPr/>
        </p:nvSpPr>
        <p:spPr>
          <a:xfrm>
            <a:off x="7360920" y="2788920"/>
            <a:ext cx="3840480" cy="219456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Detect raised $43.3M and has raised nothing since 2022. Ripik grew 92% and is still under Rs 25 Cr.</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These are the category leaders. After years of selling, the whole Indian industrial-AI product category is small.</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The licence model is not reaching this market. Investors appear to have noticed before the market did.</a:t>
            </a:r>
            <a:endParaRPr lang="en-US" sz="1200" dirty="0"/>
          </a:p>
        </p:txBody>
      </p:sp>
      <p:sp>
        <p:nvSpPr>
          <p:cNvPr id="8" name="Text 5"/>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850" spc="60" kern="0" dirty="0">
                <a:solidFill>
                  <a:srgbClr val="6B6B65"/>
                </a:solidFill>
                <a:latin typeface="Courier New" pitchFamily="34" charset="0"/>
                <a:ea typeface="Courier New" pitchFamily="34" charset="-122"/>
                <a:cs typeface="Courier New" pitchFamily="34" charset="-120"/>
              </a:rPr>
              <a:t>Sources: Inc42 company filings · Detect Technologies · Ripik.AI · Bert Labs FY25 revenue</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03   /   THE OPPORTUNITY</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Appetite is not the constraint. Purchase shape is.</a:t>
            </a:r>
            <a:endParaRPr lang="en-US" sz="3200" dirty="0"/>
          </a:p>
        </p:txBody>
      </p:sp>
      <p:sp>
        <p:nvSpPr>
          <p:cNvPr id="4" name="Shape 2"/>
          <p:cNvSpPr/>
          <p:nvPr/>
        </p:nvSpPr>
        <p:spPr>
          <a:xfrm>
            <a:off x="685800" y="2148840"/>
            <a:ext cx="2587752" cy="2148840"/>
          </a:xfrm>
          <a:prstGeom prst="rect">
            <a:avLst/>
          </a:prstGeom>
          <a:solidFill>
            <a:srgbClr val="141416"/>
          </a:solidFill>
          <a:ln w="9525">
            <a:solidFill>
              <a:srgbClr val="2A2A2E"/>
            </a:solidFill>
            <a:prstDash val="solid"/>
          </a:ln>
        </p:spPr>
      </p:sp>
      <p:sp>
        <p:nvSpPr>
          <p:cNvPr id="5" name="Text 3"/>
          <p:cNvSpPr txBox="1"/>
          <p:nvPr/>
        </p:nvSpPr>
        <p:spPr>
          <a:xfrm>
            <a:off x="923544" y="235000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10,500</a:t>
            </a:r>
            <a:endParaRPr lang="en-US" sz="3400" dirty="0"/>
          </a:p>
        </p:txBody>
      </p:sp>
      <p:sp>
        <p:nvSpPr>
          <p:cNvPr id="6" name="Text 4"/>
          <p:cNvSpPr txBox="1"/>
          <p:nvPr/>
        </p:nvSpPr>
        <p:spPr>
          <a:xfrm>
            <a:off x="923544" y="304495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DRUG UNITS IN INDIA</a:t>
            </a:r>
            <a:endParaRPr lang="en-US" sz="950" dirty="0"/>
          </a:p>
        </p:txBody>
      </p:sp>
      <p:sp>
        <p:nvSpPr>
          <p:cNvPr id="7" name="Text 5"/>
          <p:cNvSpPr txBox="1"/>
          <p:nvPr/>
        </p:nvSpPr>
        <p:spPr>
          <a:xfrm>
            <a:off x="923544" y="3337560"/>
            <a:ext cx="2130552" cy="7772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About 8,500 of them are MSME.</a:t>
            </a:r>
            <a:endParaRPr lang="en-US" sz="1150" dirty="0"/>
          </a:p>
        </p:txBody>
      </p:sp>
      <p:sp>
        <p:nvSpPr>
          <p:cNvPr id="8" name="Shape 6"/>
          <p:cNvSpPr/>
          <p:nvPr/>
        </p:nvSpPr>
        <p:spPr>
          <a:xfrm>
            <a:off x="3410712" y="2148840"/>
            <a:ext cx="2587752" cy="2148840"/>
          </a:xfrm>
          <a:prstGeom prst="rect">
            <a:avLst/>
          </a:prstGeom>
          <a:solidFill>
            <a:srgbClr val="141416"/>
          </a:solidFill>
          <a:ln w="9525">
            <a:solidFill>
              <a:srgbClr val="2A2A2E"/>
            </a:solidFill>
            <a:prstDash val="solid"/>
          </a:ln>
        </p:spPr>
      </p:sp>
      <p:sp>
        <p:nvSpPr>
          <p:cNvPr id="9" name="Text 7"/>
          <p:cNvSpPr txBox="1"/>
          <p:nvPr/>
        </p:nvSpPr>
        <p:spPr>
          <a:xfrm>
            <a:off x="3648456" y="235000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70%</a:t>
            </a:r>
            <a:endParaRPr lang="en-US" sz="3400" dirty="0"/>
          </a:p>
        </p:txBody>
      </p:sp>
      <p:sp>
        <p:nvSpPr>
          <p:cNvPr id="10" name="Text 8"/>
          <p:cNvSpPr txBox="1"/>
          <p:nvPr/>
        </p:nvSpPr>
        <p:spPr>
          <a:xfrm>
            <a:off x="3648456" y="304495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HAVE AN AI INITIATIVE</a:t>
            </a:r>
            <a:endParaRPr lang="en-US" sz="950" dirty="0"/>
          </a:p>
        </p:txBody>
      </p:sp>
      <p:sp>
        <p:nvSpPr>
          <p:cNvPr id="11" name="Text 9"/>
          <p:cNvSpPr txBox="1"/>
          <p:nvPr/>
        </p:nvSpPr>
        <p:spPr>
          <a:xfrm>
            <a:off x="3648456" y="3337560"/>
            <a:ext cx="2130552" cy="7772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Running somewhere in the business already.</a:t>
            </a:r>
            <a:endParaRPr lang="en-US" sz="1150" dirty="0"/>
          </a:p>
        </p:txBody>
      </p:sp>
      <p:sp>
        <p:nvSpPr>
          <p:cNvPr id="12" name="Shape 10"/>
          <p:cNvSpPr/>
          <p:nvPr/>
        </p:nvSpPr>
        <p:spPr>
          <a:xfrm>
            <a:off x="6135624" y="2148840"/>
            <a:ext cx="2587752" cy="2148840"/>
          </a:xfrm>
          <a:prstGeom prst="rect">
            <a:avLst/>
          </a:prstGeom>
          <a:solidFill>
            <a:srgbClr val="141416"/>
          </a:solidFill>
          <a:ln w="9525">
            <a:solidFill>
              <a:srgbClr val="2A2A2E"/>
            </a:solidFill>
            <a:prstDash val="solid"/>
          </a:ln>
        </p:spPr>
      </p:sp>
      <p:sp>
        <p:nvSpPr>
          <p:cNvPr id="13" name="Text 11"/>
          <p:cNvSpPr txBox="1"/>
          <p:nvPr/>
        </p:nvSpPr>
        <p:spPr>
          <a:xfrm>
            <a:off x="6373368" y="235000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1 in 3</a:t>
            </a:r>
            <a:endParaRPr lang="en-US" sz="3400" dirty="0"/>
          </a:p>
        </p:txBody>
      </p:sp>
      <p:sp>
        <p:nvSpPr>
          <p:cNvPr id="14" name="Text 12"/>
          <p:cNvSpPr txBox="1"/>
          <p:nvPr/>
        </p:nvSpPr>
        <p:spPr>
          <a:xfrm>
            <a:off x="6373368" y="304495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REACH PRODUCTION</a:t>
            </a:r>
            <a:endParaRPr lang="en-US" sz="950" dirty="0"/>
          </a:p>
        </p:txBody>
      </p:sp>
      <p:sp>
        <p:nvSpPr>
          <p:cNvPr id="15" name="Text 13"/>
          <p:cNvSpPr txBox="1"/>
          <p:nvPr/>
        </p:nvSpPr>
        <p:spPr>
          <a:xfrm>
            <a:off x="6373368" y="3337560"/>
            <a:ext cx="2130552" cy="7772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The rest stall in pilot indefinitely.</a:t>
            </a:r>
            <a:endParaRPr lang="en-US" sz="1150" dirty="0"/>
          </a:p>
        </p:txBody>
      </p:sp>
      <p:sp>
        <p:nvSpPr>
          <p:cNvPr id="16" name="Shape 14"/>
          <p:cNvSpPr/>
          <p:nvPr/>
        </p:nvSpPr>
        <p:spPr>
          <a:xfrm>
            <a:off x="8860536" y="2148840"/>
            <a:ext cx="2596896" cy="2148840"/>
          </a:xfrm>
          <a:prstGeom prst="rect">
            <a:avLst/>
          </a:prstGeom>
          <a:solidFill>
            <a:srgbClr val="141416"/>
          </a:solidFill>
          <a:ln w="9525">
            <a:solidFill>
              <a:srgbClr val="2A2A2E"/>
            </a:solidFill>
            <a:prstDash val="solid"/>
          </a:ln>
        </p:spPr>
      </p:sp>
      <p:sp>
        <p:nvSpPr>
          <p:cNvPr id="17" name="Text 15"/>
          <p:cNvSpPr txBox="1"/>
          <p:nvPr/>
        </p:nvSpPr>
        <p:spPr>
          <a:xfrm>
            <a:off x="9098280" y="2350008"/>
            <a:ext cx="2139696"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46%</a:t>
            </a:r>
            <a:endParaRPr lang="en-US" sz="3400" dirty="0"/>
          </a:p>
        </p:txBody>
      </p:sp>
      <p:sp>
        <p:nvSpPr>
          <p:cNvPr id="18" name="Text 16"/>
          <p:cNvSpPr txBox="1"/>
          <p:nvPr/>
        </p:nvSpPr>
        <p:spPr>
          <a:xfrm>
            <a:off x="9098280" y="3044952"/>
            <a:ext cx="2139696"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FULLY OFFLINE</a:t>
            </a:r>
            <a:endParaRPr lang="en-US" sz="950" dirty="0"/>
          </a:p>
        </p:txBody>
      </p:sp>
      <p:sp>
        <p:nvSpPr>
          <p:cNvPr id="19" name="Text 17"/>
          <p:cNvSpPr txBox="1"/>
          <p:nvPr/>
        </p:nvSpPr>
        <p:spPr>
          <a:xfrm>
            <a:off x="9098280" y="3337560"/>
            <a:ext cx="2139696" cy="77724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Indian MSMEs using no digital tool at all.</a:t>
            </a:r>
            <a:endParaRPr lang="en-US" sz="1150" dirty="0"/>
          </a:p>
        </p:txBody>
      </p:sp>
      <p:sp>
        <p:nvSpPr>
          <p:cNvPr id="20" name="Shape 18"/>
          <p:cNvSpPr/>
          <p:nvPr/>
        </p:nvSpPr>
        <p:spPr>
          <a:xfrm>
            <a:off x="685800" y="4572000"/>
            <a:ext cx="10789920" cy="1280160"/>
          </a:xfrm>
          <a:prstGeom prst="rect">
            <a:avLst/>
          </a:prstGeom>
          <a:solidFill>
            <a:srgbClr val="1C1C20"/>
          </a:solidFill>
          <a:ln w="9525">
            <a:solidFill>
              <a:srgbClr val="2A2A2E"/>
            </a:solidFill>
            <a:prstDash val="solid"/>
          </a:ln>
        </p:spPr>
      </p:sp>
      <p:sp>
        <p:nvSpPr>
          <p:cNvPr id="21" name="Text 19"/>
          <p:cNvSpPr txBox="1"/>
          <p:nvPr/>
        </p:nvSpPr>
        <p:spPr>
          <a:xfrm>
            <a:off x="1005840" y="4800600"/>
            <a:ext cx="10149840" cy="822960"/>
          </a:xfrm>
          <a:prstGeom prst="rect">
            <a:avLst/>
          </a:prstGeom>
          <a:noFill/>
          <a:ln/>
        </p:spPr>
        <p:txBody>
          <a:bodyPr wrap="square" lIns="0" tIns="0" rIns="0" bIns="0" rtlCol="0" anchor="ctr"/>
          <a:lstStyle/>
          <a:p>
            <a:pPr indent="0" marL="0">
              <a:lnSpc>
                <a:spcPts val="2000"/>
              </a:lnSpc>
              <a:buNone/>
            </a:pPr>
            <a:r>
              <a:rPr lang="en-US" sz="1400" dirty="0">
                <a:solidFill>
                  <a:srgbClr val="EDEDEA"/>
                </a:solidFill>
                <a:latin typeface="Arial" pitchFamily="34" charset="0"/>
                <a:ea typeface="Arial" pitchFamily="34" charset="-122"/>
                <a:cs typeface="Arial" pitchFamily="34" charset="-120"/>
              </a:rPr>
              <a:t>The failure is not appetite and it is not awareness. Both available purchase shapes fail this buyer: a licence requires the plant to have an average problem, and a consultancy leaves before anything runs.</a:t>
            </a:r>
            <a:endParaRPr lang="en-US" sz="1400" dirty="0"/>
          </a:p>
        </p:txBody>
      </p:sp>
      <p:sp>
        <p:nvSpPr>
          <p:cNvPr id="22" name="Text 20"/>
          <p:cNvSpPr txBox="1"/>
          <p:nvPr/>
        </p:nvSpPr>
        <p:spPr>
          <a:xfrm>
            <a:off x="685800" y="6327648"/>
            <a:ext cx="10789920" cy="274320"/>
          </a:xfrm>
          <a:prstGeom prst="rect">
            <a:avLst/>
          </a:prstGeom>
          <a:noFill/>
          <a:ln/>
        </p:spPr>
        <p:txBody>
          <a:bodyPr wrap="square" lIns="0" tIns="0" rIns="0" bIns="0" rtlCol="0" anchor="ctr"/>
          <a:lstStyle/>
          <a:p>
            <a:pPr indent="0" marL="0">
              <a:buNone/>
            </a:pPr>
            <a:r>
              <a:rPr lang="en-US" sz="850" spc="60" kern="0" dirty="0">
                <a:solidFill>
                  <a:srgbClr val="6B6B65"/>
                </a:solidFill>
                <a:latin typeface="Courier New" pitchFamily="34" charset="0"/>
                <a:ea typeface="Courier New" pitchFamily="34" charset="-122"/>
                <a:cs typeface="Courier New" pitchFamily="34" charset="-120"/>
              </a:rPr>
              <a:t>Sources: Pharmabiz Jun 2026 · ManufacturingTomorrow May 2026 · India SME Forum META Report Card 2025 (7,835 MSMEs, 28 states)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04   /   TIMING</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2968"/>
              </a:lnSpc>
              <a:buNone/>
            </a:pPr>
            <a:r>
              <a:rPr lang="en-US" sz="2800" b="1" dirty="0">
                <a:solidFill>
                  <a:srgbClr val="EDEDEA"/>
                </a:solidFill>
                <a:latin typeface="Arial" pitchFamily="34" charset="0"/>
                <a:ea typeface="Arial" pitchFamily="34" charset="-122"/>
                <a:cs typeface="Arial" pitchFamily="34" charset="-120"/>
              </a:rPr>
              <a:t>Three deadlines landed inside twelve months.</a:t>
            </a:r>
            <a:endParaRPr lang="en-US" sz="2800" dirty="0"/>
          </a:p>
          <a:p>
            <a:pPr indent="0" marL="0">
              <a:lnSpc>
                <a:spcPts val="2968"/>
              </a:lnSpc>
              <a:buNone/>
            </a:pPr>
            <a:r>
              <a:rPr lang="en-US" sz="2800" b="1" dirty="0">
                <a:solidFill>
                  <a:srgbClr val="EDEDEA"/>
                </a:solidFill>
                <a:latin typeface="Arial" pitchFamily="34" charset="0"/>
                <a:ea typeface="Arial" pitchFamily="34" charset="-122"/>
                <a:cs typeface="Arial" pitchFamily="34" charset="-120"/>
              </a:rPr>
              <a:t>Each is a data problem with a price attached.</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789920" cy="914400"/>
        </p:xfrm>
        <a:graphic>
          <a:graphicData uri="http://schemas.openxmlformats.org/drawingml/2006/table">
            <a:tbl>
              <a:tblPr/>
              <a:tblGrid>
                <a:gridCol w="2468880"/>
                <a:gridCol w="1737360"/>
                <a:gridCol w="6583680"/>
              </a:tblGrid>
              <a:tr h="310896">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TRIGGER</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LIVE FROM</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WHAT IT FORCES</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CBAM definitive phase</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1 Jan 2026</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Exporters without verified plant-level emissions data are assigned EU default values 30 to 80% above actual. Penalty EUR 100 per tonne. GTRI estimates 15 to 22% price pressure on Indian steel and aluminium.</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New labour codes</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21 Nov 2025</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Overtime now pays double, with new muster roll and overtime record formats. Every hour of unplanned overtime costs twice what it did, doubling the return on any scheduling system.</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Time-of-day tariffs</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Live, Maharashtra</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20 to 30% discount in solar hours, 25% surcharge at evening peak. Load shifting now has arithmetic payback rather than an efficiency argument.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bl>
          </a:graphicData>
        </a:graphic>
      </p:graphicFrame>
      <p:sp>
        <p:nvSpPr>
          <p:cNvPr id="5" name="Text 2"/>
          <p:cNvSpPr txBox="1"/>
          <p:nvPr/>
        </p:nvSpPr>
        <p:spPr>
          <a:xfrm>
            <a:off x="685800" y="5440680"/>
            <a:ext cx="10515600" cy="640080"/>
          </a:xfrm>
          <a:prstGeom prst="rect">
            <a:avLst/>
          </a:prstGeom>
          <a:noFill/>
          <a:ln/>
        </p:spPr>
        <p:txBody>
          <a:bodyPr wrap="square" lIns="0" tIns="0" rIns="0" bIns="0" rtlCol="0" anchor="t"/>
          <a:lstStyle/>
          <a:p>
            <a:pPr indent="0" marL="0">
              <a:lnSpc>
                <a:spcPts val="2100"/>
              </a:lnSpc>
              <a:buNone/>
            </a:pPr>
            <a:r>
              <a:rPr lang="en-US" sz="1400" dirty="0">
                <a:solidFill>
                  <a:srgbClr val="9D9D97"/>
                </a:solidFill>
                <a:latin typeface="Arial" pitchFamily="34" charset="0"/>
                <a:ea typeface="Arial" pitchFamily="34" charset="-122"/>
                <a:cs typeface="Arial" pitchFamily="34" charset="-120"/>
              </a:rPr>
              <a:t>None of these are sentiment. Each has a date, a penalty, and a budget line that is already defended internally.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65836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05   /   THE INSIGHT</a:t>
            </a:r>
            <a:endParaRPr lang="en-US" sz="1100" dirty="0"/>
          </a:p>
        </p:txBody>
      </p:sp>
      <p:sp>
        <p:nvSpPr>
          <p:cNvPr id="3" name="Shape 1"/>
          <p:cNvSpPr/>
          <p:nvPr/>
        </p:nvSpPr>
        <p:spPr>
          <a:xfrm>
            <a:off x="685800" y="1188720"/>
            <a:ext cx="10789920" cy="1783080"/>
          </a:xfrm>
          <a:prstGeom prst="rect">
            <a:avLst/>
          </a:prstGeom>
          <a:solidFill>
            <a:srgbClr val="1C1C20"/>
          </a:solidFill>
          <a:ln w="9525">
            <a:solidFill>
              <a:srgbClr val="2A2A2E"/>
            </a:solidFill>
            <a:prstDash val="solid"/>
          </a:ln>
        </p:spPr>
      </p:sp>
      <p:sp>
        <p:nvSpPr>
          <p:cNvPr id="4" name="Text 2"/>
          <p:cNvSpPr txBox="1"/>
          <p:nvPr/>
        </p:nvSpPr>
        <p:spPr>
          <a:xfrm>
            <a:off x="1188720" y="1463040"/>
            <a:ext cx="9784080" cy="1188720"/>
          </a:xfrm>
          <a:prstGeom prst="rect">
            <a:avLst/>
          </a:prstGeom>
          <a:noFill/>
          <a:ln/>
        </p:spPr>
        <p:txBody>
          <a:bodyPr wrap="square" lIns="0" tIns="0" rIns="0" bIns="0" rtlCol="0" anchor="ctr"/>
          <a:lstStyle/>
          <a:p>
            <a:pPr indent="0" marL="0">
              <a:lnSpc>
                <a:spcPts val="3600"/>
              </a:lnSpc>
              <a:buNone/>
            </a:pPr>
            <a:r>
              <a:rPr lang="en-US" sz="2600" b="1" dirty="0">
                <a:solidFill>
                  <a:srgbClr val="EDEDEA"/>
                </a:solidFill>
                <a:latin typeface="Arial" pitchFamily="34" charset="0"/>
                <a:ea typeface="Arial" pitchFamily="34" charset="-122"/>
                <a:cs typeface="Arial" pitchFamily="34" charset="-120"/>
              </a:rPr>
              <a:t>"The consultant did a great pilot but did not have</a:t>
            </a:r>
            <a:endParaRPr lang="en-US" sz="2600" dirty="0"/>
          </a:p>
          <a:p>
            <a:pPr indent="0" marL="0">
              <a:lnSpc>
                <a:spcPts val="3600"/>
              </a:lnSpc>
              <a:buNone/>
            </a:pPr>
            <a:r>
              <a:rPr lang="en-US" sz="2600" b="1" dirty="0">
                <a:solidFill>
                  <a:srgbClr val="EDEDEA"/>
                </a:solidFill>
                <a:latin typeface="Arial" pitchFamily="34" charset="0"/>
                <a:ea typeface="Arial" pitchFamily="34" charset="-122"/>
                <a:cs typeface="Arial" pitchFamily="34" charset="-120"/>
              </a:rPr>
              <a:t>any idea about how to scale it."</a:t>
            </a:r>
            <a:endParaRPr lang="en-US" sz="2600" dirty="0"/>
          </a:p>
        </p:txBody>
      </p:sp>
      <p:sp>
        <p:nvSpPr>
          <p:cNvPr id="5" name="Text 3"/>
          <p:cNvSpPr txBox="1"/>
          <p:nvPr/>
        </p:nvSpPr>
        <p:spPr>
          <a:xfrm>
            <a:off x="1188720" y="2578608"/>
            <a:ext cx="9144000" cy="274320"/>
          </a:xfrm>
          <a:prstGeom prst="rect">
            <a:avLst/>
          </a:prstGeom>
          <a:noFill/>
          <a:ln/>
        </p:spPr>
        <p:txBody>
          <a:bodyPr wrap="square" lIns="0" tIns="0" rIns="0" bIns="0" rtlCol="0" anchor="ctr"/>
          <a:lstStyle/>
          <a:p>
            <a:pPr indent="0" marL="0">
              <a:buNone/>
            </a:pPr>
            <a:r>
              <a:rPr lang="en-US" sz="1000" spc="120" kern="0" dirty="0">
                <a:solidFill>
                  <a:srgbClr val="FFD400"/>
                </a:solidFill>
                <a:latin typeface="Courier New" pitchFamily="34" charset="0"/>
                <a:ea typeface="Courier New" pitchFamily="34" charset="-122"/>
                <a:cs typeface="Courier New" pitchFamily="34" charset="-120"/>
              </a:rPr>
              <a:t>PwC, Unlocking the AI Edge for MSMEs, March 2026</a:t>
            </a:r>
            <a:endParaRPr lang="en-US" sz="1000" dirty="0"/>
          </a:p>
        </p:txBody>
      </p:sp>
      <p:sp>
        <p:nvSpPr>
          <p:cNvPr id="6" name="Text 4"/>
          <p:cNvSpPr txBox="1"/>
          <p:nvPr/>
        </p:nvSpPr>
        <p:spPr>
          <a:xfrm>
            <a:off x="685800" y="3246120"/>
            <a:ext cx="10607040" cy="1371600"/>
          </a:xfrm>
          <a:prstGeom prst="rect">
            <a:avLst/>
          </a:prstGeom>
          <a:noFill/>
          <a:ln/>
        </p:spPr>
        <p:txBody>
          <a:bodyPr wrap="square" lIns="0" tIns="0" rIns="0" bIns="0" rtlCol="0" anchor="t"/>
          <a:lstStyle/>
          <a:p>
            <a:pPr indent="0" marL="0">
              <a:lnSpc>
                <a:spcPts val="2756"/>
              </a:lnSpc>
              <a:buNone/>
            </a:pPr>
            <a:r>
              <a:rPr lang="en-US" sz="2600" b="1" dirty="0">
                <a:solidFill>
                  <a:srgbClr val="EDEDEA"/>
                </a:solidFill>
                <a:latin typeface="Arial" pitchFamily="34" charset="0"/>
                <a:ea typeface="Arial" pitchFamily="34" charset="-122"/>
                <a:cs typeface="Arial" pitchFamily="34" charset="-120"/>
              </a:rPr>
              <a:t>Three recorded objections. Our structure answers all three.</a:t>
            </a:r>
            <a:endParaRPr lang="en-US" sz="2600" dirty="0"/>
          </a:p>
        </p:txBody>
      </p:sp>
      <p:sp>
        <p:nvSpPr>
          <p:cNvPr id="7" name="Shape 5"/>
          <p:cNvSpPr/>
          <p:nvPr/>
        </p:nvSpPr>
        <p:spPr>
          <a:xfrm>
            <a:off x="685800" y="4114800"/>
            <a:ext cx="3474720" cy="1417320"/>
          </a:xfrm>
          <a:prstGeom prst="rect">
            <a:avLst/>
          </a:prstGeom>
          <a:solidFill>
            <a:srgbClr val="141416"/>
          </a:solidFill>
          <a:ln w="9525">
            <a:solidFill>
              <a:srgbClr val="2A2A2E"/>
            </a:solidFill>
            <a:prstDash val="solid"/>
          </a:ln>
        </p:spPr>
      </p:sp>
      <p:sp>
        <p:nvSpPr>
          <p:cNvPr id="8" name="Text 6"/>
          <p:cNvSpPr txBox="1"/>
          <p:nvPr/>
        </p:nvSpPr>
        <p:spPr>
          <a:xfrm>
            <a:off x="923544" y="4315968"/>
            <a:ext cx="3017520" cy="320040"/>
          </a:xfrm>
          <a:prstGeom prst="rect">
            <a:avLst/>
          </a:prstGeom>
          <a:noFill/>
          <a:ln/>
        </p:spPr>
        <p:txBody>
          <a:bodyPr wrap="square" lIns="0" tIns="0" rIns="0" bIns="0" rtlCol="0" anchor="ctr"/>
          <a:lstStyle/>
          <a:p>
            <a:pPr indent="0" marL="0">
              <a:buNone/>
            </a:pPr>
            <a:r>
              <a:rPr lang="en-US" sz="1000" spc="130" kern="0" dirty="0">
                <a:solidFill>
                  <a:srgbClr val="FFD400"/>
                </a:solidFill>
                <a:latin typeface="Courier New" pitchFamily="34" charset="0"/>
                <a:ea typeface="Courier New" pitchFamily="34" charset="-122"/>
                <a:cs typeface="Courier New" pitchFamily="34" charset="-120"/>
              </a:rPr>
              <a:t>Abandoned pilots</a:t>
            </a:r>
            <a:endParaRPr lang="en-US" sz="1000" dirty="0"/>
          </a:p>
        </p:txBody>
      </p:sp>
      <p:sp>
        <p:nvSpPr>
          <p:cNvPr id="9" name="Text 7"/>
          <p:cNvSpPr txBox="1"/>
          <p:nvPr/>
        </p:nvSpPr>
        <p:spPr>
          <a:xfrm>
            <a:off x="923544" y="4681728"/>
            <a:ext cx="3017520" cy="73152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A fixed end date, with a system in production at the end of it.</a:t>
            </a:r>
            <a:endParaRPr lang="en-US" sz="1200" dirty="0"/>
          </a:p>
        </p:txBody>
      </p:sp>
      <p:sp>
        <p:nvSpPr>
          <p:cNvPr id="10" name="Shape 8"/>
          <p:cNvSpPr/>
          <p:nvPr/>
        </p:nvSpPr>
        <p:spPr>
          <a:xfrm>
            <a:off x="4343400" y="4114800"/>
            <a:ext cx="3474720" cy="1417320"/>
          </a:xfrm>
          <a:prstGeom prst="rect">
            <a:avLst/>
          </a:prstGeom>
          <a:solidFill>
            <a:srgbClr val="141416"/>
          </a:solidFill>
          <a:ln w="9525">
            <a:solidFill>
              <a:srgbClr val="2A2A2E"/>
            </a:solidFill>
            <a:prstDash val="solid"/>
          </a:ln>
        </p:spPr>
      </p:sp>
      <p:sp>
        <p:nvSpPr>
          <p:cNvPr id="11" name="Text 9"/>
          <p:cNvSpPr txBox="1"/>
          <p:nvPr/>
        </p:nvSpPr>
        <p:spPr>
          <a:xfrm>
            <a:off x="4581144" y="4315968"/>
            <a:ext cx="3017520" cy="320040"/>
          </a:xfrm>
          <a:prstGeom prst="rect">
            <a:avLst/>
          </a:prstGeom>
          <a:noFill/>
          <a:ln/>
        </p:spPr>
        <p:txBody>
          <a:bodyPr wrap="square" lIns="0" tIns="0" rIns="0" bIns="0" rtlCol="0" anchor="ctr"/>
          <a:lstStyle/>
          <a:p>
            <a:pPr indent="0" marL="0">
              <a:buNone/>
            </a:pPr>
            <a:r>
              <a:rPr lang="en-US" sz="1000" spc="130" kern="0" dirty="0">
                <a:solidFill>
                  <a:srgbClr val="FFD400"/>
                </a:solidFill>
                <a:latin typeface="Courier New" pitchFamily="34" charset="0"/>
                <a:ea typeface="Courier New" pitchFamily="34" charset="-122"/>
                <a:cs typeface="Courier New" pitchFamily="34" charset="-120"/>
              </a:rPr>
              <a:t>Vendor lock-in</a:t>
            </a:r>
            <a:endParaRPr lang="en-US" sz="1000" dirty="0"/>
          </a:p>
        </p:txBody>
      </p:sp>
      <p:sp>
        <p:nvSpPr>
          <p:cNvPr id="12" name="Text 10"/>
          <p:cNvSpPr txBox="1"/>
          <p:nvPr/>
        </p:nvSpPr>
        <p:spPr>
          <a:xfrm>
            <a:off x="4581144" y="4681728"/>
            <a:ext cx="3017520" cy="73152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The client owns the code, the hardware and the documentation.</a:t>
            </a:r>
            <a:endParaRPr lang="en-US" sz="1200" dirty="0"/>
          </a:p>
        </p:txBody>
      </p:sp>
      <p:sp>
        <p:nvSpPr>
          <p:cNvPr id="13" name="Shape 11"/>
          <p:cNvSpPr/>
          <p:nvPr/>
        </p:nvSpPr>
        <p:spPr>
          <a:xfrm>
            <a:off x="8001000" y="4114800"/>
            <a:ext cx="3474720" cy="1417320"/>
          </a:xfrm>
          <a:prstGeom prst="rect">
            <a:avLst/>
          </a:prstGeom>
          <a:solidFill>
            <a:srgbClr val="141416"/>
          </a:solidFill>
          <a:ln w="9525">
            <a:solidFill>
              <a:srgbClr val="2A2A2E"/>
            </a:solidFill>
            <a:prstDash val="solid"/>
          </a:ln>
        </p:spPr>
      </p:sp>
      <p:sp>
        <p:nvSpPr>
          <p:cNvPr id="14" name="Text 12"/>
          <p:cNvSpPr txBox="1"/>
          <p:nvPr/>
        </p:nvSpPr>
        <p:spPr>
          <a:xfrm>
            <a:off x="8238744" y="4315968"/>
            <a:ext cx="3017520" cy="320040"/>
          </a:xfrm>
          <a:prstGeom prst="rect">
            <a:avLst/>
          </a:prstGeom>
          <a:noFill/>
          <a:ln/>
        </p:spPr>
        <p:txBody>
          <a:bodyPr wrap="square" lIns="0" tIns="0" rIns="0" bIns="0" rtlCol="0" anchor="ctr"/>
          <a:lstStyle/>
          <a:p>
            <a:pPr indent="0" marL="0">
              <a:buNone/>
            </a:pPr>
            <a:r>
              <a:rPr lang="en-US" sz="1000" spc="130" kern="0" dirty="0">
                <a:solidFill>
                  <a:srgbClr val="FFD400"/>
                </a:solidFill>
                <a:latin typeface="Courier New" pitchFamily="34" charset="0"/>
                <a:ea typeface="Courier New" pitchFamily="34" charset="-122"/>
                <a:cs typeface="Courier New" pitchFamily="34" charset="-120"/>
              </a:rPr>
              <a:t>Subscription cost</a:t>
            </a:r>
            <a:endParaRPr lang="en-US" sz="1000" dirty="0"/>
          </a:p>
        </p:txBody>
      </p:sp>
      <p:sp>
        <p:nvSpPr>
          <p:cNvPr id="15" name="Text 13"/>
          <p:cNvSpPr txBox="1"/>
          <p:nvPr/>
        </p:nvSpPr>
        <p:spPr>
          <a:xfrm>
            <a:off x="8238744" y="4681728"/>
            <a:ext cx="3017520" cy="73152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There is no subscription. One fixed fee, one time.</a:t>
            </a:r>
            <a:endParaRPr lang="en-US" sz="1200" dirty="0"/>
          </a:p>
        </p:txBody>
      </p:sp>
      <p:sp>
        <p:nvSpPr>
          <p:cNvPr id="16" name="Text 14"/>
          <p:cNvSpPr txBox="1"/>
          <p:nvPr/>
        </p:nvSpPr>
        <p:spPr>
          <a:xfrm>
            <a:off x="685800" y="5715000"/>
            <a:ext cx="10515600" cy="640080"/>
          </a:xfrm>
          <a:prstGeom prst="rect">
            <a:avLst/>
          </a:prstGeom>
          <a:noFill/>
          <a:ln/>
        </p:spPr>
        <p:txBody>
          <a:bodyPr wrap="square" lIns="0" tIns="0" rIns="0" bIns="0" rtlCol="0" anchor="t"/>
          <a:lstStyle/>
          <a:p>
            <a:pPr indent="0" marL="0">
              <a:lnSpc>
                <a:spcPts val="2100"/>
              </a:lnSpc>
              <a:buNone/>
            </a:pPr>
            <a:r>
              <a:rPr lang="en-US" sz="1400" dirty="0">
                <a:solidFill>
                  <a:srgbClr val="9D9D97"/>
                </a:solidFill>
                <a:latin typeface="Arial" pitchFamily="34" charset="0"/>
                <a:ea typeface="Arial" pitchFamily="34" charset="-122"/>
                <a:cs typeface="Arial" pitchFamily="34" charset="-120"/>
              </a:rPr>
              <a:t>No licence business can adopt the ownership clause without destroying its own revenue model. That is a structural position, not a feature.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06   /   WHAT WE SELL</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Six weeks, two engineers, one system in production.</a:t>
            </a:r>
            <a:endParaRPr lang="en-US" sz="3200" dirty="0"/>
          </a:p>
        </p:txBody>
      </p:sp>
      <p:sp>
        <p:nvSpPr>
          <p:cNvPr id="4" name="Shape 2"/>
          <p:cNvSpPr/>
          <p:nvPr/>
        </p:nvSpPr>
        <p:spPr>
          <a:xfrm>
            <a:off x="685800" y="2057400"/>
            <a:ext cx="5303520" cy="2148840"/>
          </a:xfrm>
          <a:prstGeom prst="rect">
            <a:avLst/>
          </a:prstGeom>
          <a:solidFill>
            <a:srgbClr val="141416"/>
          </a:solidFill>
          <a:ln w="9525">
            <a:solidFill>
              <a:srgbClr val="2A2A2E"/>
            </a:solidFill>
            <a:prstDash val="solid"/>
          </a:ln>
        </p:spPr>
      </p:sp>
      <p:sp>
        <p:nvSpPr>
          <p:cNvPr id="5" name="Shape 3"/>
          <p:cNvSpPr/>
          <p:nvPr/>
        </p:nvSpPr>
        <p:spPr>
          <a:xfrm>
            <a:off x="914400" y="2286000"/>
            <a:ext cx="384048" cy="384048"/>
          </a:xfrm>
          <a:prstGeom prst="rect">
            <a:avLst/>
          </a:prstGeom>
          <a:solidFill>
            <a:srgbClr val="FFD400"/>
          </a:solidFill>
          <a:ln w="6350">
            <a:solidFill>
              <a:srgbClr val="FFD400"/>
            </a:solidFill>
            <a:prstDash val="solid"/>
          </a:ln>
        </p:spPr>
      </p:sp>
      <p:sp>
        <p:nvSpPr>
          <p:cNvPr id="6" name="Text 4"/>
          <p:cNvSpPr txBox="1"/>
          <p:nvPr/>
        </p:nvSpPr>
        <p:spPr>
          <a:xfrm>
            <a:off x="914400" y="228600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463040" y="2286000"/>
            <a:ext cx="4206240" cy="384048"/>
          </a:xfrm>
          <a:prstGeom prst="rect">
            <a:avLst/>
          </a:prstGeom>
          <a:noFill/>
          <a:ln/>
        </p:spPr>
        <p:txBody>
          <a:bodyPr wrap="square" lIns="0" tIns="0" rIns="0" bIns="0" rtlCol="0" anchor="ctr"/>
          <a:lstStyle/>
          <a:p>
            <a:pPr indent="0" marL="0">
              <a:buNone/>
            </a:pPr>
            <a:r>
              <a:rPr lang="en-US" sz="1050" spc="140" kern="0" dirty="0">
                <a:solidFill>
                  <a:srgbClr val="FFD400"/>
                </a:solidFill>
                <a:latin typeface="Courier New" pitchFamily="34" charset="0"/>
                <a:ea typeface="Courier New" pitchFamily="34" charset="-122"/>
                <a:cs typeface="Courier New" pitchFamily="34" charset="-120"/>
              </a:rPr>
              <a:t>WEEKS 1 TO 2   /   FIND</a:t>
            </a:r>
            <a:endParaRPr lang="en-US" sz="1050" dirty="0"/>
          </a:p>
        </p:txBody>
      </p:sp>
      <p:sp>
        <p:nvSpPr>
          <p:cNvPr id="8" name="Text 6"/>
          <p:cNvSpPr txBox="1"/>
          <p:nvPr/>
        </p:nvSpPr>
        <p:spPr>
          <a:xfrm>
            <a:off x="914400" y="2880360"/>
            <a:ext cx="4846320" cy="1097280"/>
          </a:xfrm>
          <a:prstGeom prst="rect">
            <a:avLst/>
          </a:prstGeom>
          <a:noFill/>
          <a:ln/>
        </p:spPr>
        <p:txBody>
          <a:bodyPr wrap="square" lIns="0" tIns="0" rIns="0" bIns="0" rtlCol="0" anchor="t"/>
          <a:lstStyle/>
          <a:p>
            <a:pPr indent="0" marL="0">
              <a:lnSpc>
                <a:spcPts val="1950"/>
              </a:lnSpc>
              <a:buNone/>
            </a:pPr>
            <a:r>
              <a:rPr lang="en-US" sz="1300" dirty="0">
                <a:solidFill>
                  <a:srgbClr val="9D9D97"/>
                </a:solidFill>
                <a:latin typeface="Arial" pitchFamily="34" charset="0"/>
                <a:ea typeface="Arial" pitchFamily="34" charset="-122"/>
                <a:cs typeface="Arial" pitchFamily="34" charset="-120"/>
              </a:rPr>
              <a:t>Engineers on the floor with the client's people, on the client's data. Return with three candidate builds. The client picks one.</a:t>
            </a:r>
            <a:endParaRPr lang="en-US" sz="1300" dirty="0"/>
          </a:p>
        </p:txBody>
      </p:sp>
      <p:sp>
        <p:nvSpPr>
          <p:cNvPr id="9" name="Shape 7"/>
          <p:cNvSpPr/>
          <p:nvPr/>
        </p:nvSpPr>
        <p:spPr>
          <a:xfrm>
            <a:off x="6172200" y="2057400"/>
            <a:ext cx="5303520" cy="2148840"/>
          </a:xfrm>
          <a:prstGeom prst="rect">
            <a:avLst/>
          </a:prstGeom>
          <a:solidFill>
            <a:srgbClr val="141416"/>
          </a:solidFill>
          <a:ln w="9525">
            <a:solidFill>
              <a:srgbClr val="2A2A2E"/>
            </a:solidFill>
            <a:prstDash val="solid"/>
          </a:ln>
        </p:spPr>
      </p:sp>
      <p:sp>
        <p:nvSpPr>
          <p:cNvPr id="10" name="Shape 8"/>
          <p:cNvSpPr/>
          <p:nvPr/>
        </p:nvSpPr>
        <p:spPr>
          <a:xfrm>
            <a:off x="6400800" y="2286000"/>
            <a:ext cx="384048" cy="384048"/>
          </a:xfrm>
          <a:prstGeom prst="rect">
            <a:avLst/>
          </a:prstGeom>
          <a:solidFill>
            <a:srgbClr val="FFD400"/>
          </a:solidFill>
          <a:ln w="6350">
            <a:solidFill>
              <a:srgbClr val="FFD400"/>
            </a:solidFill>
            <a:prstDash val="solid"/>
          </a:ln>
        </p:spPr>
      </p:sp>
      <p:sp>
        <p:nvSpPr>
          <p:cNvPr id="11" name="Text 9"/>
          <p:cNvSpPr txBox="1"/>
          <p:nvPr/>
        </p:nvSpPr>
        <p:spPr>
          <a:xfrm>
            <a:off x="6400800" y="228600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2</a:t>
            </a:r>
            <a:endParaRPr lang="en-US" sz="1300" dirty="0"/>
          </a:p>
        </p:txBody>
      </p:sp>
      <p:sp>
        <p:nvSpPr>
          <p:cNvPr id="12" name="Text 10"/>
          <p:cNvSpPr txBox="1"/>
          <p:nvPr/>
        </p:nvSpPr>
        <p:spPr>
          <a:xfrm>
            <a:off x="6949440" y="2286000"/>
            <a:ext cx="4206240" cy="384048"/>
          </a:xfrm>
          <a:prstGeom prst="rect">
            <a:avLst/>
          </a:prstGeom>
          <a:noFill/>
          <a:ln/>
        </p:spPr>
        <p:txBody>
          <a:bodyPr wrap="square" lIns="0" tIns="0" rIns="0" bIns="0" rtlCol="0" anchor="ctr"/>
          <a:lstStyle/>
          <a:p>
            <a:pPr indent="0" marL="0">
              <a:buNone/>
            </a:pPr>
            <a:r>
              <a:rPr lang="en-US" sz="1050" spc="140" kern="0" dirty="0">
                <a:solidFill>
                  <a:srgbClr val="FFD400"/>
                </a:solidFill>
                <a:latin typeface="Courier New" pitchFamily="34" charset="0"/>
                <a:ea typeface="Courier New" pitchFamily="34" charset="-122"/>
                <a:cs typeface="Courier New" pitchFamily="34" charset="-120"/>
              </a:rPr>
              <a:t>WEEKS 3 TO 6   /   BUILD</a:t>
            </a:r>
            <a:endParaRPr lang="en-US" sz="1050" dirty="0"/>
          </a:p>
        </p:txBody>
      </p:sp>
      <p:sp>
        <p:nvSpPr>
          <p:cNvPr id="13" name="Text 11"/>
          <p:cNvSpPr txBox="1"/>
          <p:nvPr/>
        </p:nvSpPr>
        <p:spPr>
          <a:xfrm>
            <a:off x="6400800" y="2880360"/>
            <a:ext cx="4846320" cy="1097280"/>
          </a:xfrm>
          <a:prstGeom prst="rect">
            <a:avLst/>
          </a:prstGeom>
          <a:noFill/>
          <a:ln/>
        </p:spPr>
        <p:txBody>
          <a:bodyPr wrap="square" lIns="0" tIns="0" rIns="0" bIns="0" rtlCol="0" anchor="t"/>
          <a:lstStyle/>
          <a:p>
            <a:pPr indent="0" marL="0">
              <a:lnSpc>
                <a:spcPts val="1950"/>
              </a:lnSpc>
              <a:buNone/>
            </a:pPr>
            <a:r>
              <a:rPr lang="en-US" sz="1300" dirty="0">
                <a:solidFill>
                  <a:srgbClr val="9D9D97"/>
                </a:solidFill>
                <a:latin typeface="Arial" pitchFamily="34" charset="0"/>
                <a:ea typeface="Arial" pitchFamily="34" charset="-122"/>
                <a:cs typeface="Arial" pitchFamily="34" charset="-120"/>
              </a:rPr>
              <a:t>Into production, with the client's team alongside so they can operate it. They own the code, hardware and documentation.</a:t>
            </a:r>
            <a:endParaRPr lang="en-US" sz="1300" dirty="0"/>
          </a:p>
        </p:txBody>
      </p:sp>
      <p:sp>
        <p:nvSpPr>
          <p:cNvPr id="14" name="Text 12"/>
          <p:cNvSpPr txBox="1"/>
          <p:nvPr/>
        </p:nvSpPr>
        <p:spPr>
          <a:xfrm>
            <a:off x="685800" y="4572000"/>
            <a:ext cx="10515600" cy="1097280"/>
          </a:xfrm>
          <a:prstGeom prst="rect">
            <a:avLst/>
          </a:prstGeom>
          <a:noFill/>
          <a:ln/>
        </p:spPr>
        <p:txBody>
          <a:bodyPr wrap="square" lIns="0" tIns="0" rIns="0" bIns="0" rtlCol="0" anchor="t"/>
          <a:lstStyle/>
          <a:p>
            <a:pPr indent="0" marL="0">
              <a:lnSpc>
                <a:spcPts val="2100"/>
              </a:lnSpc>
              <a:buNone/>
            </a:pPr>
            <a:r>
              <a:rPr lang="en-US" sz="1400" dirty="0">
                <a:solidFill>
                  <a:srgbClr val="9D9D97"/>
                </a:solidFill>
                <a:latin typeface="Arial" pitchFamily="34" charset="0"/>
                <a:ea typeface="Arial" pitchFamily="34" charset="-122"/>
                <a:cs typeface="Arial" pitchFamily="34" charset="-120"/>
              </a:rPr>
              <a:t>Capability spans edge AI, computer vision, industrial IoT and applied software. The diagnosis phase exists because we do not assume we know which one a plant needs, which is precisely the assumption a product company is forced to make before it walks in.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07   /   UNIT ECONOMICS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2968"/>
              </a:lnSpc>
              <a:buNone/>
            </a:pPr>
            <a:r>
              <a:rPr lang="en-US" sz="2800" b="1" dirty="0">
                <a:solidFill>
                  <a:srgbClr val="EDEDEA"/>
                </a:solidFill>
                <a:latin typeface="Arial" pitchFamily="34" charset="0"/>
                <a:ea typeface="Arial" pitchFamily="34" charset="-122"/>
                <a:cs typeface="Arial" pitchFamily="34" charset="-120"/>
              </a:rPr>
              <a:t>The state pays most of the invoice.</a:t>
            </a:r>
            <a:endParaRPr lang="en-US" sz="2800" dirty="0"/>
          </a:p>
          <a:p>
            <a:pPr indent="0" marL="0">
              <a:lnSpc>
                <a:spcPts val="2968"/>
              </a:lnSpc>
              <a:buNone/>
            </a:pPr>
            <a:r>
              <a:rPr lang="en-US" sz="2800" b="1" dirty="0">
                <a:solidFill>
                  <a:srgbClr val="EDEDEA"/>
                </a:solidFill>
                <a:latin typeface="Arial" pitchFamily="34" charset="0"/>
                <a:ea typeface="Arial" pitchFamily="34" charset="-122"/>
                <a:cs typeface="Arial" pitchFamily="34" charset="-120"/>
              </a:rPr>
              <a:t>Capacity is the ceiling, not demand.</a:t>
            </a:r>
            <a:endParaRPr lang="en-US" sz="2800" dirty="0"/>
          </a:p>
        </p:txBody>
      </p:sp>
      <p:sp>
        <p:nvSpPr>
          <p:cNvPr id="4" name="Shape 2"/>
          <p:cNvSpPr/>
          <p:nvPr/>
        </p:nvSpPr>
        <p:spPr>
          <a:xfrm>
            <a:off x="685800" y="2331720"/>
            <a:ext cx="2587752" cy="1828800"/>
          </a:xfrm>
          <a:prstGeom prst="rect">
            <a:avLst/>
          </a:prstGeom>
          <a:solidFill>
            <a:srgbClr val="141416"/>
          </a:solidFill>
          <a:ln w="9525">
            <a:solidFill>
              <a:srgbClr val="2A2A2E"/>
            </a:solidFill>
            <a:prstDash val="solid"/>
          </a:ln>
        </p:spPr>
      </p:sp>
      <p:sp>
        <p:nvSpPr>
          <p:cNvPr id="5" name="Text 3"/>
          <p:cNvSpPr txBox="1"/>
          <p:nvPr/>
        </p:nvSpPr>
        <p:spPr>
          <a:xfrm>
            <a:off x="923544" y="253288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Rs 8-15L</a:t>
            </a:r>
            <a:endParaRPr lang="en-US" sz="3400" dirty="0"/>
          </a:p>
        </p:txBody>
      </p:sp>
      <p:sp>
        <p:nvSpPr>
          <p:cNvPr id="6" name="Text 4"/>
          <p:cNvSpPr txBox="1"/>
          <p:nvPr/>
        </p:nvSpPr>
        <p:spPr>
          <a:xfrm>
            <a:off x="923544" y="322783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PRICE PER SPRINT</a:t>
            </a:r>
            <a:endParaRPr lang="en-US" sz="950" dirty="0"/>
          </a:p>
        </p:txBody>
      </p:sp>
      <p:sp>
        <p:nvSpPr>
          <p:cNvPr id="7" name="Text 5"/>
          <p:cNvSpPr txBox="1"/>
          <p:nvPr/>
        </p:nvSpPr>
        <p:spPr>
          <a:xfrm>
            <a:off x="923544" y="3520440"/>
            <a:ext cx="2130552" cy="4572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Six weeks, two engineers.</a:t>
            </a:r>
            <a:endParaRPr lang="en-US" sz="1150" dirty="0"/>
          </a:p>
        </p:txBody>
      </p:sp>
      <p:sp>
        <p:nvSpPr>
          <p:cNvPr id="8" name="Shape 6"/>
          <p:cNvSpPr/>
          <p:nvPr/>
        </p:nvSpPr>
        <p:spPr>
          <a:xfrm>
            <a:off x="3410712" y="2331720"/>
            <a:ext cx="2587752" cy="1828800"/>
          </a:xfrm>
          <a:prstGeom prst="rect">
            <a:avLst/>
          </a:prstGeom>
          <a:solidFill>
            <a:srgbClr val="141416"/>
          </a:solidFill>
          <a:ln w="9525">
            <a:solidFill>
              <a:srgbClr val="2A2A2E"/>
            </a:solidFill>
            <a:prstDash val="solid"/>
          </a:ln>
        </p:spPr>
      </p:sp>
      <p:sp>
        <p:nvSpPr>
          <p:cNvPr id="9" name="Text 7"/>
          <p:cNvSpPr txBox="1"/>
          <p:nvPr/>
        </p:nvSpPr>
        <p:spPr>
          <a:xfrm>
            <a:off x="3648456" y="253288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65%</a:t>
            </a:r>
            <a:endParaRPr lang="en-US" sz="3400" dirty="0"/>
          </a:p>
        </p:txBody>
      </p:sp>
      <p:sp>
        <p:nvSpPr>
          <p:cNvPr id="10" name="Text 8"/>
          <p:cNvSpPr txBox="1"/>
          <p:nvPr/>
        </p:nvSpPr>
        <p:spPr>
          <a:xfrm>
            <a:off x="3648456" y="322783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STATE-FUNDED</a:t>
            </a:r>
            <a:endParaRPr lang="en-US" sz="950" dirty="0"/>
          </a:p>
        </p:txBody>
      </p:sp>
      <p:sp>
        <p:nvSpPr>
          <p:cNvPr id="11" name="Text 9"/>
          <p:cNvSpPr txBox="1"/>
          <p:nvPr/>
        </p:nvSpPr>
        <p:spPr>
          <a:xfrm>
            <a:off x="3648456" y="3520440"/>
            <a:ext cx="2130552" cy="4572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Gujarat Technology Acquisition, cap Rs 50L.</a:t>
            </a:r>
            <a:endParaRPr lang="en-US" sz="1150" dirty="0"/>
          </a:p>
        </p:txBody>
      </p:sp>
      <p:sp>
        <p:nvSpPr>
          <p:cNvPr id="12" name="Shape 10"/>
          <p:cNvSpPr/>
          <p:nvPr/>
        </p:nvSpPr>
        <p:spPr>
          <a:xfrm>
            <a:off x="6135624" y="2331720"/>
            <a:ext cx="2587752" cy="1828800"/>
          </a:xfrm>
          <a:prstGeom prst="rect">
            <a:avLst/>
          </a:prstGeom>
          <a:solidFill>
            <a:srgbClr val="141416"/>
          </a:solidFill>
          <a:ln w="9525">
            <a:solidFill>
              <a:srgbClr val="2A2A2E"/>
            </a:solidFill>
            <a:prstDash val="solid"/>
          </a:ln>
        </p:spPr>
      </p:sp>
      <p:sp>
        <p:nvSpPr>
          <p:cNvPr id="13" name="Text 11"/>
          <p:cNvSpPr txBox="1"/>
          <p:nvPr/>
        </p:nvSpPr>
        <p:spPr>
          <a:xfrm>
            <a:off x="6373368" y="2532888"/>
            <a:ext cx="2130552"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Rs 4.2L</a:t>
            </a:r>
            <a:endParaRPr lang="en-US" sz="3400" dirty="0"/>
          </a:p>
        </p:txBody>
      </p:sp>
      <p:sp>
        <p:nvSpPr>
          <p:cNvPr id="14" name="Text 12"/>
          <p:cNvSpPr txBox="1"/>
          <p:nvPr/>
        </p:nvSpPr>
        <p:spPr>
          <a:xfrm>
            <a:off x="6373368" y="3227832"/>
            <a:ext cx="2130552"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NET TO CLIENT</a:t>
            </a:r>
            <a:endParaRPr lang="en-US" sz="950" dirty="0"/>
          </a:p>
        </p:txBody>
      </p:sp>
      <p:sp>
        <p:nvSpPr>
          <p:cNvPr id="15" name="Text 13"/>
          <p:cNvSpPr txBox="1"/>
          <p:nvPr/>
        </p:nvSpPr>
        <p:spPr>
          <a:xfrm>
            <a:off x="6373368" y="3520440"/>
            <a:ext cx="2130552" cy="4572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On a Rs 12L sprint.</a:t>
            </a:r>
            <a:endParaRPr lang="en-US" sz="1150" dirty="0"/>
          </a:p>
        </p:txBody>
      </p:sp>
      <p:sp>
        <p:nvSpPr>
          <p:cNvPr id="16" name="Shape 14"/>
          <p:cNvSpPr/>
          <p:nvPr/>
        </p:nvSpPr>
        <p:spPr>
          <a:xfrm>
            <a:off x="8860536" y="2331720"/>
            <a:ext cx="2596896" cy="1828800"/>
          </a:xfrm>
          <a:prstGeom prst="rect">
            <a:avLst/>
          </a:prstGeom>
          <a:solidFill>
            <a:srgbClr val="141416"/>
          </a:solidFill>
          <a:ln w="9525">
            <a:solidFill>
              <a:srgbClr val="2A2A2E"/>
            </a:solidFill>
            <a:prstDash val="solid"/>
          </a:ln>
        </p:spPr>
      </p:sp>
      <p:sp>
        <p:nvSpPr>
          <p:cNvPr id="17" name="Text 15"/>
          <p:cNvSpPr txBox="1"/>
          <p:nvPr/>
        </p:nvSpPr>
        <p:spPr>
          <a:xfrm>
            <a:off x="9098280" y="2532888"/>
            <a:ext cx="2139696" cy="713232"/>
          </a:xfrm>
          <a:prstGeom prst="rect">
            <a:avLst/>
          </a:prstGeom>
          <a:noFill/>
          <a:ln/>
        </p:spPr>
        <p:txBody>
          <a:bodyPr wrap="square" lIns="0" tIns="0" rIns="0" bIns="0" rtlCol="0" anchor="ctr"/>
          <a:lstStyle/>
          <a:p>
            <a:pPr indent="0" marL="0">
              <a:buNone/>
            </a:pPr>
            <a:r>
              <a:rPr lang="en-US" sz="3400" b="1" dirty="0">
                <a:solidFill>
                  <a:srgbClr val="FFD400"/>
                </a:solidFill>
                <a:latin typeface="Arial" pitchFamily="34" charset="0"/>
                <a:ea typeface="Arial" pitchFamily="34" charset="-122"/>
                <a:cs typeface="Arial" pitchFamily="34" charset="-120"/>
              </a:rPr>
              <a:t>6-8</a:t>
            </a:r>
            <a:endParaRPr lang="en-US" sz="3400" dirty="0"/>
          </a:p>
        </p:txBody>
      </p:sp>
      <p:sp>
        <p:nvSpPr>
          <p:cNvPr id="18" name="Text 16"/>
          <p:cNvSpPr txBox="1"/>
          <p:nvPr/>
        </p:nvSpPr>
        <p:spPr>
          <a:xfrm>
            <a:off x="9098280" y="3227832"/>
            <a:ext cx="2139696" cy="274320"/>
          </a:xfrm>
          <a:prstGeom prst="rect">
            <a:avLst/>
          </a:prstGeom>
          <a:noFill/>
          <a:ln/>
        </p:spPr>
        <p:txBody>
          <a:bodyPr wrap="square" lIns="0" tIns="0" rIns="0" bIns="0" rtlCol="0" anchor="ctr"/>
          <a:lstStyle/>
          <a:p>
            <a:pPr indent="0" marL="0">
              <a:buNone/>
            </a:pPr>
            <a:r>
              <a:rPr lang="en-US" sz="950" spc="160" kern="0" dirty="0">
                <a:solidFill>
                  <a:srgbClr val="6B6B65"/>
                </a:solidFill>
                <a:latin typeface="Courier New" pitchFamily="34" charset="0"/>
                <a:ea typeface="Courier New" pitchFamily="34" charset="-122"/>
                <a:cs typeface="Courier New" pitchFamily="34" charset="-120"/>
              </a:rPr>
              <a:t>SPRINTS PER YEAR</a:t>
            </a:r>
            <a:endParaRPr lang="en-US" sz="950" dirty="0"/>
          </a:p>
        </p:txBody>
      </p:sp>
      <p:sp>
        <p:nvSpPr>
          <p:cNvPr id="19" name="Text 17"/>
          <p:cNvSpPr txBox="1"/>
          <p:nvPr/>
        </p:nvSpPr>
        <p:spPr>
          <a:xfrm>
            <a:off x="9098280" y="3520440"/>
            <a:ext cx="2139696" cy="457200"/>
          </a:xfrm>
          <a:prstGeom prst="rect">
            <a:avLst/>
          </a:prstGeom>
          <a:noFill/>
          <a:ln/>
        </p:spPr>
        <p:txBody>
          <a:bodyPr wrap="square" lIns="0" tIns="0" rIns="0" bIns="0" rtlCol="0" anchor="t"/>
          <a:lstStyle/>
          <a:p>
            <a:pPr indent="0" marL="0">
              <a:lnSpc>
                <a:spcPts val="1600"/>
              </a:lnSpc>
              <a:buNone/>
            </a:pPr>
            <a:r>
              <a:rPr lang="en-US" sz="1150" dirty="0">
                <a:solidFill>
                  <a:srgbClr val="9D9D97"/>
                </a:solidFill>
                <a:latin typeface="Arial" pitchFamily="34" charset="0"/>
                <a:ea typeface="Arial" pitchFamily="34" charset="-122"/>
                <a:cs typeface="Arial" pitchFamily="34" charset="-120"/>
              </a:rPr>
              <a:t>Two engineers at full utilisation.</a:t>
            </a:r>
            <a:endParaRPr lang="en-US" sz="1150" dirty="0"/>
          </a:p>
        </p:txBody>
      </p:sp>
      <p:sp>
        <p:nvSpPr>
          <p:cNvPr id="20" name="Shape 18"/>
          <p:cNvSpPr/>
          <p:nvPr/>
        </p:nvSpPr>
        <p:spPr>
          <a:xfrm>
            <a:off x="685800" y="4434840"/>
            <a:ext cx="5303520" cy="1417320"/>
          </a:xfrm>
          <a:prstGeom prst="rect">
            <a:avLst/>
          </a:prstGeom>
          <a:solidFill>
            <a:srgbClr val="1C1C20"/>
          </a:solidFill>
          <a:ln w="9525">
            <a:solidFill>
              <a:srgbClr val="2A2A2E"/>
            </a:solidFill>
            <a:prstDash val="solid"/>
          </a:ln>
        </p:spPr>
      </p:sp>
      <p:sp>
        <p:nvSpPr>
          <p:cNvPr id="21" name="Text 19"/>
          <p:cNvSpPr txBox="1"/>
          <p:nvPr/>
        </p:nvSpPr>
        <p:spPr>
          <a:xfrm>
            <a:off x="960120" y="4617720"/>
            <a:ext cx="4754880" cy="32004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Demand is subsidised</a:t>
            </a:r>
            <a:endParaRPr lang="en-US" sz="1400" dirty="0"/>
          </a:p>
        </p:txBody>
      </p:sp>
      <p:sp>
        <p:nvSpPr>
          <p:cNvPr id="22" name="Text 20"/>
          <p:cNvSpPr txBox="1"/>
          <p:nvPr/>
        </p:nvSpPr>
        <p:spPr>
          <a:xfrm>
            <a:off x="960120" y="4983480"/>
            <a:ext cx="4754880" cy="77724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91% of Indian MSMEs say affordability decides adoption. The state removing two thirds of the price removes the primary objection.</a:t>
            </a:r>
            <a:endParaRPr lang="en-US" sz="1200" dirty="0"/>
          </a:p>
        </p:txBody>
      </p:sp>
      <p:sp>
        <p:nvSpPr>
          <p:cNvPr id="23" name="Shape 21"/>
          <p:cNvSpPr/>
          <p:nvPr/>
        </p:nvSpPr>
        <p:spPr>
          <a:xfrm>
            <a:off x="6172200" y="4434840"/>
            <a:ext cx="5303520" cy="1417320"/>
          </a:xfrm>
          <a:prstGeom prst="rect">
            <a:avLst/>
          </a:prstGeom>
          <a:solidFill>
            <a:srgbClr val="1C1C20"/>
          </a:solidFill>
          <a:ln w="9525">
            <a:solidFill>
              <a:srgbClr val="2A2A2E"/>
            </a:solidFill>
            <a:prstDash val="solid"/>
          </a:ln>
        </p:spPr>
      </p:sp>
      <p:sp>
        <p:nvSpPr>
          <p:cNvPr id="24" name="Text 22"/>
          <p:cNvSpPr txBox="1"/>
          <p:nvPr/>
        </p:nvSpPr>
        <p:spPr>
          <a:xfrm>
            <a:off x="6446520" y="4617720"/>
            <a:ext cx="4754880" cy="32004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Revenue scales with engineers</a:t>
            </a:r>
            <a:endParaRPr lang="en-US" sz="1400" dirty="0"/>
          </a:p>
        </p:txBody>
      </p:sp>
      <p:sp>
        <p:nvSpPr>
          <p:cNvPr id="25" name="Text 23"/>
          <p:cNvSpPr txBox="1"/>
          <p:nvPr/>
        </p:nvSpPr>
        <p:spPr>
          <a:xfrm>
            <a:off x="6446520" y="4983480"/>
            <a:ext cx="4754880" cy="77724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A Rs 20 to 60 lakh mid-market ERP implementation is the price anchor already in the buyer's head. We sit deliberately below 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08   /   GO TO MARKET</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604"/>
              </a:lnSpc>
              <a:buNone/>
            </a:pPr>
            <a:r>
              <a:rPr lang="en-US" sz="3400" b="1" dirty="0">
                <a:solidFill>
                  <a:srgbClr val="EDEDEA"/>
                </a:solidFill>
                <a:latin typeface="Arial" pitchFamily="34" charset="0"/>
                <a:ea typeface="Arial" pitchFamily="34" charset="-122"/>
                <a:cs typeface="Arial" pitchFamily="34" charset="-120"/>
              </a:rPr>
              <a:t>Clusters, not campaigns.</a:t>
            </a:r>
            <a:endParaRPr lang="en-US" sz="3400" dirty="0"/>
          </a:p>
        </p:txBody>
      </p:sp>
      <p:sp>
        <p:nvSpPr>
          <p:cNvPr id="4" name="Shape 2"/>
          <p:cNvSpPr/>
          <p:nvPr/>
        </p:nvSpPr>
        <p:spPr>
          <a:xfrm>
            <a:off x="685800" y="2011680"/>
            <a:ext cx="10789920" cy="731520"/>
          </a:xfrm>
          <a:prstGeom prst="rect">
            <a:avLst/>
          </a:prstGeom>
          <a:solidFill>
            <a:srgbClr val="141416"/>
          </a:solidFill>
          <a:ln w="9525">
            <a:solidFill>
              <a:srgbClr val="2A2A2E"/>
            </a:solidFill>
            <a:prstDash val="solid"/>
          </a:ln>
        </p:spPr>
      </p:sp>
      <p:sp>
        <p:nvSpPr>
          <p:cNvPr id="5" name="Shape 3"/>
          <p:cNvSpPr/>
          <p:nvPr/>
        </p:nvSpPr>
        <p:spPr>
          <a:xfrm>
            <a:off x="914400" y="2185416"/>
            <a:ext cx="384048" cy="384048"/>
          </a:xfrm>
          <a:prstGeom prst="rect">
            <a:avLst/>
          </a:prstGeom>
          <a:solidFill>
            <a:srgbClr val="FFD400"/>
          </a:solidFill>
          <a:ln w="6350">
            <a:solidFill>
              <a:srgbClr val="FFD400"/>
            </a:solidFill>
            <a:prstDash val="solid"/>
          </a:ln>
        </p:spPr>
      </p:sp>
      <p:sp>
        <p:nvSpPr>
          <p:cNvPr id="6" name="Text 4"/>
          <p:cNvSpPr txBox="1"/>
          <p:nvPr/>
        </p:nvSpPr>
        <p:spPr>
          <a:xfrm>
            <a:off x="914400" y="2185416"/>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1481328" y="2057400"/>
            <a:ext cx="3200400" cy="640080"/>
          </a:xfrm>
          <a:prstGeom prst="rect">
            <a:avLst/>
          </a:prstGeom>
          <a:noFill/>
          <a:ln/>
        </p:spPr>
        <p:txBody>
          <a:bodyPr wrap="square" lIns="0" tIns="0" rIns="0" bIns="0" rtlCol="0" anchor="ctr"/>
          <a:lstStyle/>
          <a:p>
            <a:pPr indent="0" marL="0">
              <a:buNone/>
            </a:pPr>
            <a:r>
              <a:rPr lang="en-US" sz="1300" b="1" dirty="0">
                <a:solidFill>
                  <a:srgbClr val="EDEDEA"/>
                </a:solidFill>
                <a:latin typeface="Arial" pitchFamily="34" charset="0"/>
                <a:ea typeface="Arial" pitchFamily="34" charset="-122"/>
                <a:cs typeface="Arial" pitchFamily="34" charset="-120"/>
              </a:rPr>
              <a:t>Cluster density does the selling</a:t>
            </a:r>
            <a:endParaRPr lang="en-US" sz="1300" dirty="0"/>
          </a:p>
        </p:txBody>
      </p:sp>
      <p:sp>
        <p:nvSpPr>
          <p:cNvPr id="8" name="Text 6"/>
          <p:cNvSpPr txBox="1"/>
          <p:nvPr/>
        </p:nvSpPr>
        <p:spPr>
          <a:xfrm>
            <a:off x="4846320" y="2057400"/>
            <a:ext cx="6400800" cy="640080"/>
          </a:xfrm>
          <a:prstGeom prst="rect">
            <a:avLst/>
          </a:prstGeom>
          <a:noFill/>
          <a:ln/>
        </p:spPr>
        <p:txBody>
          <a:bodyPr wrap="square" lIns="0" tIns="0" rIns="0" bIns="0" rtlCol="0" anchor="ctr"/>
          <a:lstStyle/>
          <a:p>
            <a:pPr indent="0" marL="0">
              <a:lnSpc>
                <a:spcPts val="1500"/>
              </a:lnSpc>
              <a:buNone/>
            </a:pPr>
            <a:r>
              <a:rPr lang="en-US" sz="1150" dirty="0">
                <a:solidFill>
                  <a:srgbClr val="9D9D97"/>
                </a:solidFill>
                <a:latin typeface="Arial" pitchFamily="34" charset="0"/>
                <a:ea typeface="Arial" pitchFamily="34" charset="-122"/>
                <a:cs typeface="Arial" pitchFamily="34" charset="-120"/>
              </a:rPr>
              <a:t>Peer learning is the documented strongest driver of MSME technology adoption in India. Land three plants in one Ankleshwar estate and the fourth costs nothing to acquire.</a:t>
            </a:r>
            <a:endParaRPr lang="en-US" sz="1150" dirty="0"/>
          </a:p>
        </p:txBody>
      </p:sp>
      <p:sp>
        <p:nvSpPr>
          <p:cNvPr id="9" name="Shape 7"/>
          <p:cNvSpPr/>
          <p:nvPr/>
        </p:nvSpPr>
        <p:spPr>
          <a:xfrm>
            <a:off x="685800" y="2852928"/>
            <a:ext cx="10789920" cy="731520"/>
          </a:xfrm>
          <a:prstGeom prst="rect">
            <a:avLst/>
          </a:prstGeom>
          <a:solidFill>
            <a:srgbClr val="1C1C20"/>
          </a:solidFill>
          <a:ln w="9525">
            <a:solidFill>
              <a:srgbClr val="2A2A2E"/>
            </a:solidFill>
            <a:prstDash val="solid"/>
          </a:ln>
        </p:spPr>
      </p:sp>
      <p:sp>
        <p:nvSpPr>
          <p:cNvPr id="10" name="Shape 8"/>
          <p:cNvSpPr/>
          <p:nvPr/>
        </p:nvSpPr>
        <p:spPr>
          <a:xfrm>
            <a:off x="914400" y="3026664"/>
            <a:ext cx="384048" cy="384048"/>
          </a:xfrm>
          <a:prstGeom prst="rect">
            <a:avLst/>
          </a:prstGeom>
          <a:solidFill>
            <a:srgbClr val="FFD400"/>
          </a:solidFill>
          <a:ln w="6350">
            <a:solidFill>
              <a:srgbClr val="FFD400"/>
            </a:solidFill>
            <a:prstDash val="solid"/>
          </a:ln>
        </p:spPr>
      </p:sp>
      <p:sp>
        <p:nvSpPr>
          <p:cNvPr id="11" name="Text 9"/>
          <p:cNvSpPr txBox="1"/>
          <p:nvPr/>
        </p:nvSpPr>
        <p:spPr>
          <a:xfrm>
            <a:off x="914400" y="3026664"/>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02</a:t>
            </a:r>
            <a:endParaRPr lang="en-US" sz="1300" dirty="0"/>
          </a:p>
        </p:txBody>
      </p:sp>
      <p:sp>
        <p:nvSpPr>
          <p:cNvPr id="12" name="Text 10"/>
          <p:cNvSpPr txBox="1"/>
          <p:nvPr/>
        </p:nvSpPr>
        <p:spPr>
          <a:xfrm>
            <a:off x="1481328" y="2898648"/>
            <a:ext cx="3200400" cy="640080"/>
          </a:xfrm>
          <a:prstGeom prst="rect">
            <a:avLst/>
          </a:prstGeom>
          <a:noFill/>
          <a:ln/>
        </p:spPr>
        <p:txBody>
          <a:bodyPr wrap="square" lIns="0" tIns="0" rIns="0" bIns="0" rtlCol="0" anchor="ctr"/>
          <a:lstStyle/>
          <a:p>
            <a:pPr indent="0" marL="0">
              <a:buNone/>
            </a:pPr>
            <a:r>
              <a:rPr lang="en-US" sz="1300" b="1" dirty="0">
                <a:solidFill>
                  <a:srgbClr val="EDEDEA"/>
                </a:solidFill>
                <a:latin typeface="Arial" pitchFamily="34" charset="0"/>
                <a:ea typeface="Arial" pitchFamily="34" charset="-122"/>
                <a:cs typeface="Arial" pitchFamily="34" charset="-120"/>
              </a:rPr>
              <a:t>Vendor Development Programmes</a:t>
            </a:r>
            <a:endParaRPr lang="en-US" sz="1300" dirty="0"/>
          </a:p>
        </p:txBody>
      </p:sp>
      <p:sp>
        <p:nvSpPr>
          <p:cNvPr id="13" name="Text 11"/>
          <p:cNvSpPr txBox="1"/>
          <p:nvPr/>
        </p:nvSpPr>
        <p:spPr>
          <a:xfrm>
            <a:off x="4846320" y="2898648"/>
            <a:ext cx="6400800" cy="640080"/>
          </a:xfrm>
          <a:prstGeom prst="rect">
            <a:avLst/>
          </a:prstGeom>
          <a:noFill/>
          <a:ln/>
        </p:spPr>
        <p:txBody>
          <a:bodyPr wrap="square" lIns="0" tIns="0" rIns="0" bIns="0" rtlCol="0" anchor="ctr"/>
          <a:lstStyle/>
          <a:p>
            <a:pPr indent="0" marL="0">
              <a:lnSpc>
                <a:spcPts val="1500"/>
              </a:lnSpc>
              <a:buNone/>
            </a:pPr>
            <a:r>
              <a:rPr lang="en-US" sz="1150" dirty="0">
                <a:solidFill>
                  <a:srgbClr val="9D9D97"/>
                </a:solidFill>
                <a:latin typeface="Arial" pitchFamily="34" charset="0"/>
                <a:ea typeface="Arial" pitchFamily="34" charset="-122"/>
                <a:cs typeface="Arial" pitchFamily="34" charset="-120"/>
              </a:rPr>
              <a:t>Vibrant Gujarat puts Zydus, Lupin, GSFC, ONGC and ArcelorMittal procurement in one room for an afternoon, at near-zero cost.</a:t>
            </a:r>
            <a:endParaRPr lang="en-US" sz="1150" dirty="0"/>
          </a:p>
        </p:txBody>
      </p:sp>
      <p:sp>
        <p:nvSpPr>
          <p:cNvPr id="14" name="Shape 12"/>
          <p:cNvSpPr/>
          <p:nvPr/>
        </p:nvSpPr>
        <p:spPr>
          <a:xfrm>
            <a:off x="685800" y="3694176"/>
            <a:ext cx="10789920" cy="731520"/>
          </a:xfrm>
          <a:prstGeom prst="rect">
            <a:avLst/>
          </a:prstGeom>
          <a:solidFill>
            <a:srgbClr val="141416"/>
          </a:solidFill>
          <a:ln w="9525">
            <a:solidFill>
              <a:srgbClr val="2A2A2E"/>
            </a:solidFill>
            <a:prstDash val="solid"/>
          </a:ln>
        </p:spPr>
      </p:sp>
      <p:sp>
        <p:nvSpPr>
          <p:cNvPr id="15" name="Shape 13"/>
          <p:cNvSpPr/>
          <p:nvPr/>
        </p:nvSpPr>
        <p:spPr>
          <a:xfrm>
            <a:off x="914400" y="3867912"/>
            <a:ext cx="384048" cy="384048"/>
          </a:xfrm>
          <a:prstGeom prst="rect">
            <a:avLst/>
          </a:prstGeom>
          <a:solidFill>
            <a:srgbClr val="FFD400"/>
          </a:solidFill>
          <a:ln w="6350">
            <a:solidFill>
              <a:srgbClr val="FFD400"/>
            </a:solidFill>
            <a:prstDash val="solid"/>
          </a:ln>
        </p:spPr>
      </p:sp>
      <p:sp>
        <p:nvSpPr>
          <p:cNvPr id="16" name="Text 14"/>
          <p:cNvSpPr txBox="1"/>
          <p:nvPr/>
        </p:nvSpPr>
        <p:spPr>
          <a:xfrm>
            <a:off x="914400" y="3867912"/>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03</a:t>
            </a:r>
            <a:endParaRPr lang="en-US" sz="1300" dirty="0"/>
          </a:p>
        </p:txBody>
      </p:sp>
      <p:sp>
        <p:nvSpPr>
          <p:cNvPr id="17" name="Text 15"/>
          <p:cNvSpPr txBox="1"/>
          <p:nvPr/>
        </p:nvSpPr>
        <p:spPr>
          <a:xfrm>
            <a:off x="1481328" y="3739896"/>
            <a:ext cx="3200400" cy="640080"/>
          </a:xfrm>
          <a:prstGeom prst="rect">
            <a:avLst/>
          </a:prstGeom>
          <a:noFill/>
          <a:ln/>
        </p:spPr>
        <p:txBody>
          <a:bodyPr wrap="square" lIns="0" tIns="0" rIns="0" bIns="0" rtlCol="0" anchor="ctr"/>
          <a:lstStyle/>
          <a:p>
            <a:pPr indent="0" marL="0">
              <a:buNone/>
            </a:pPr>
            <a:r>
              <a:rPr lang="en-US" sz="1300" b="1" dirty="0">
                <a:solidFill>
                  <a:srgbClr val="EDEDEA"/>
                </a:solidFill>
                <a:latin typeface="Arial" pitchFamily="34" charset="0"/>
                <a:ea typeface="Arial" pitchFamily="34" charset="-122"/>
                <a:cs typeface="Arial" pitchFamily="34" charset="-120"/>
              </a:rPr>
              <a:t>Estate association seminars</a:t>
            </a:r>
            <a:endParaRPr lang="en-US" sz="1300" dirty="0"/>
          </a:p>
        </p:txBody>
      </p:sp>
      <p:sp>
        <p:nvSpPr>
          <p:cNvPr id="18" name="Text 16"/>
          <p:cNvSpPr txBox="1"/>
          <p:nvPr/>
        </p:nvSpPr>
        <p:spPr>
          <a:xfrm>
            <a:off x="4846320" y="3739896"/>
            <a:ext cx="6400800" cy="640080"/>
          </a:xfrm>
          <a:prstGeom prst="rect">
            <a:avLst/>
          </a:prstGeom>
          <a:noFill/>
          <a:ln/>
        </p:spPr>
        <p:txBody>
          <a:bodyPr wrap="square" lIns="0" tIns="0" rIns="0" bIns="0" rtlCol="0" anchor="ctr"/>
          <a:lstStyle/>
          <a:p>
            <a:pPr indent="0" marL="0">
              <a:lnSpc>
                <a:spcPts val="1500"/>
              </a:lnSpc>
              <a:buNone/>
            </a:pPr>
            <a:r>
              <a:rPr lang="en-US" sz="1150" dirty="0">
                <a:solidFill>
                  <a:srgbClr val="9D9D97"/>
                </a:solidFill>
                <a:latin typeface="Arial" pitchFamily="34" charset="0"/>
                <a:ea typeface="Arial" pitchFamily="34" charset="-122"/>
                <a:cs typeface="Arial" pitchFamily="34" charset="-120"/>
              </a:rPr>
              <a:t>Ankleshwar, Vapi, Vatva, Dahej, Panoli. Plant heads attend because it is free and twenty minutes away.</a:t>
            </a:r>
            <a:endParaRPr lang="en-US" sz="1150" dirty="0"/>
          </a:p>
        </p:txBody>
      </p:sp>
      <p:sp>
        <p:nvSpPr>
          <p:cNvPr id="19" name="Shape 17"/>
          <p:cNvSpPr/>
          <p:nvPr/>
        </p:nvSpPr>
        <p:spPr>
          <a:xfrm>
            <a:off x="685800" y="4535424"/>
            <a:ext cx="10789920" cy="731520"/>
          </a:xfrm>
          <a:prstGeom prst="rect">
            <a:avLst/>
          </a:prstGeom>
          <a:solidFill>
            <a:srgbClr val="1C1C20"/>
          </a:solidFill>
          <a:ln w="9525">
            <a:solidFill>
              <a:srgbClr val="2A2A2E"/>
            </a:solidFill>
            <a:prstDash val="solid"/>
          </a:ln>
        </p:spPr>
      </p:sp>
      <p:sp>
        <p:nvSpPr>
          <p:cNvPr id="20" name="Shape 18"/>
          <p:cNvSpPr/>
          <p:nvPr/>
        </p:nvSpPr>
        <p:spPr>
          <a:xfrm>
            <a:off x="914400" y="4709160"/>
            <a:ext cx="384048" cy="384048"/>
          </a:xfrm>
          <a:prstGeom prst="rect">
            <a:avLst/>
          </a:prstGeom>
          <a:solidFill>
            <a:srgbClr val="FFD400"/>
          </a:solidFill>
          <a:ln w="6350">
            <a:solidFill>
              <a:srgbClr val="FFD400"/>
            </a:solidFill>
            <a:prstDash val="solid"/>
          </a:ln>
        </p:spPr>
      </p:sp>
      <p:sp>
        <p:nvSpPr>
          <p:cNvPr id="21" name="Text 19"/>
          <p:cNvSpPr txBox="1"/>
          <p:nvPr/>
        </p:nvSpPr>
        <p:spPr>
          <a:xfrm>
            <a:off x="914400" y="470916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04</a:t>
            </a:r>
            <a:endParaRPr lang="en-US" sz="1300" dirty="0"/>
          </a:p>
        </p:txBody>
      </p:sp>
      <p:sp>
        <p:nvSpPr>
          <p:cNvPr id="22" name="Text 20"/>
          <p:cNvSpPr txBox="1"/>
          <p:nvPr/>
        </p:nvSpPr>
        <p:spPr>
          <a:xfrm>
            <a:off x="1481328" y="4581144"/>
            <a:ext cx="3200400" cy="640080"/>
          </a:xfrm>
          <a:prstGeom prst="rect">
            <a:avLst/>
          </a:prstGeom>
          <a:noFill/>
          <a:ln/>
        </p:spPr>
        <p:txBody>
          <a:bodyPr wrap="square" lIns="0" tIns="0" rIns="0" bIns="0" rtlCol="0" anchor="ctr"/>
          <a:lstStyle/>
          <a:p>
            <a:pPr indent="0" marL="0">
              <a:buNone/>
            </a:pPr>
            <a:r>
              <a:rPr lang="en-US" sz="1300" b="1" dirty="0">
                <a:solidFill>
                  <a:srgbClr val="EDEDEA"/>
                </a:solidFill>
                <a:latin typeface="Arial" pitchFamily="34" charset="0"/>
                <a:ea typeface="Arial" pitchFamily="34" charset="-122"/>
                <a:cs typeface="Arial" pitchFamily="34" charset="-120"/>
              </a:rPr>
              <a:t>Government empanelment</a:t>
            </a:r>
            <a:endParaRPr lang="en-US" sz="1300" dirty="0"/>
          </a:p>
        </p:txBody>
      </p:sp>
      <p:sp>
        <p:nvSpPr>
          <p:cNvPr id="23" name="Text 21"/>
          <p:cNvSpPr txBox="1"/>
          <p:nvPr/>
        </p:nvSpPr>
        <p:spPr>
          <a:xfrm>
            <a:off x="4846320" y="4581144"/>
            <a:ext cx="6400800" cy="640080"/>
          </a:xfrm>
          <a:prstGeom prst="rect">
            <a:avLst/>
          </a:prstGeom>
          <a:noFill/>
          <a:ln/>
        </p:spPr>
        <p:txBody>
          <a:bodyPr wrap="square" lIns="0" tIns="0" rIns="0" bIns="0" rtlCol="0" anchor="ctr"/>
          <a:lstStyle/>
          <a:p>
            <a:pPr indent="0" marL="0">
              <a:lnSpc>
                <a:spcPts val="1500"/>
              </a:lnSpc>
              <a:buNone/>
            </a:pPr>
            <a:r>
              <a:rPr lang="en-US" sz="1150" dirty="0">
                <a:solidFill>
                  <a:srgbClr val="9D9D97"/>
                </a:solidFill>
                <a:latin typeface="Arial" pitchFamily="34" charset="0"/>
                <a:ea typeface="Arial" pitchFamily="34" charset="-122"/>
                <a:cs typeface="Arial" pitchFamily="34" charset="-120"/>
              </a:rPr>
              <a:t>MSME LEAN places our engineers inside four to ten factories under a state mandate. Poor revenue, exceptional access.</a:t>
            </a:r>
            <a:endParaRPr lang="en-US" sz="1150" dirty="0"/>
          </a:p>
        </p:txBody>
      </p:sp>
      <p:sp>
        <p:nvSpPr>
          <p:cNvPr id="24" name="Shape 22"/>
          <p:cNvSpPr/>
          <p:nvPr/>
        </p:nvSpPr>
        <p:spPr>
          <a:xfrm>
            <a:off x="685800" y="5376672"/>
            <a:ext cx="10789920" cy="731520"/>
          </a:xfrm>
          <a:prstGeom prst="rect">
            <a:avLst/>
          </a:prstGeom>
          <a:solidFill>
            <a:srgbClr val="141416"/>
          </a:solidFill>
          <a:ln w="9525">
            <a:solidFill>
              <a:srgbClr val="2A2A2E"/>
            </a:solidFill>
            <a:prstDash val="solid"/>
          </a:ln>
        </p:spPr>
      </p:sp>
      <p:sp>
        <p:nvSpPr>
          <p:cNvPr id="25" name="Shape 23"/>
          <p:cNvSpPr/>
          <p:nvPr/>
        </p:nvSpPr>
        <p:spPr>
          <a:xfrm>
            <a:off x="914400" y="5550408"/>
            <a:ext cx="384048" cy="384048"/>
          </a:xfrm>
          <a:prstGeom prst="rect">
            <a:avLst/>
          </a:prstGeom>
          <a:solidFill>
            <a:srgbClr val="FFD400"/>
          </a:solidFill>
          <a:ln w="6350">
            <a:solidFill>
              <a:srgbClr val="FFD400"/>
            </a:solidFill>
            <a:prstDash val="solid"/>
          </a:ln>
        </p:spPr>
      </p:sp>
      <p:sp>
        <p:nvSpPr>
          <p:cNvPr id="26" name="Text 24"/>
          <p:cNvSpPr txBox="1"/>
          <p:nvPr/>
        </p:nvSpPr>
        <p:spPr>
          <a:xfrm>
            <a:off x="914400" y="5550408"/>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05</a:t>
            </a:r>
            <a:endParaRPr lang="en-US" sz="1300" dirty="0"/>
          </a:p>
        </p:txBody>
      </p:sp>
      <p:sp>
        <p:nvSpPr>
          <p:cNvPr id="27" name="Text 25"/>
          <p:cNvSpPr txBox="1"/>
          <p:nvPr/>
        </p:nvSpPr>
        <p:spPr>
          <a:xfrm>
            <a:off x="1481328" y="5422392"/>
            <a:ext cx="3200400" cy="640080"/>
          </a:xfrm>
          <a:prstGeom prst="rect">
            <a:avLst/>
          </a:prstGeom>
          <a:noFill/>
          <a:ln/>
        </p:spPr>
        <p:txBody>
          <a:bodyPr wrap="square" lIns="0" tIns="0" rIns="0" bIns="0" rtlCol="0" anchor="ctr"/>
          <a:lstStyle/>
          <a:p>
            <a:pPr indent="0" marL="0">
              <a:buNone/>
            </a:pPr>
            <a:r>
              <a:rPr lang="en-US" sz="1300" b="1" dirty="0">
                <a:solidFill>
                  <a:srgbClr val="EDEDEA"/>
                </a:solidFill>
                <a:latin typeface="Arial" pitchFamily="34" charset="0"/>
                <a:ea typeface="Arial" pitchFamily="34" charset="-122"/>
                <a:cs typeface="Arial" pitchFamily="34" charset="-120"/>
              </a:rPr>
              <a:t>Founder-led outbound</a:t>
            </a:r>
            <a:endParaRPr lang="en-US" sz="1300" dirty="0"/>
          </a:p>
        </p:txBody>
      </p:sp>
      <p:sp>
        <p:nvSpPr>
          <p:cNvPr id="28" name="Text 26"/>
          <p:cNvSpPr txBox="1"/>
          <p:nvPr/>
        </p:nvSpPr>
        <p:spPr>
          <a:xfrm>
            <a:off x="4846320" y="5422392"/>
            <a:ext cx="6400800" cy="640080"/>
          </a:xfrm>
          <a:prstGeom prst="rect">
            <a:avLst/>
          </a:prstGeom>
          <a:noFill/>
          <a:ln/>
        </p:spPr>
        <p:txBody>
          <a:bodyPr wrap="square" lIns="0" tIns="0" rIns="0" bIns="0" rtlCol="0" anchor="ctr"/>
          <a:lstStyle/>
          <a:p>
            <a:pPr indent="0" marL="0">
              <a:lnSpc>
                <a:spcPts val="1500"/>
              </a:lnSpc>
              <a:buNone/>
            </a:pPr>
            <a:r>
              <a:rPr lang="en-US" sz="1150" dirty="0">
                <a:solidFill>
                  <a:srgbClr val="9D9D97"/>
                </a:solidFill>
                <a:latin typeface="Arial" pitchFamily="34" charset="0"/>
                <a:ea typeface="Arial" pitchFamily="34" charset="-122"/>
                <a:cs typeface="Arial" pitchFamily="34" charset="-120"/>
              </a:rPr>
              <a:t>80 researched leads across 19 accounts in flight now, with per-person triggers and a five-touch sequence.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09   /   HONEST STATUS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Pre-revenue. Here is exactly what exists.</a:t>
            </a:r>
            <a:endParaRPr lang="en-US" sz="3200" dirty="0"/>
          </a:p>
        </p:txBody>
      </p:sp>
      <p:sp>
        <p:nvSpPr>
          <p:cNvPr id="4" name="Shape 2"/>
          <p:cNvSpPr/>
          <p:nvPr/>
        </p:nvSpPr>
        <p:spPr>
          <a:xfrm>
            <a:off x="685800" y="2148840"/>
            <a:ext cx="5303520" cy="3200400"/>
          </a:xfrm>
          <a:prstGeom prst="rect">
            <a:avLst/>
          </a:prstGeom>
          <a:solidFill>
            <a:srgbClr val="141416"/>
          </a:solidFill>
          <a:ln w="9525">
            <a:solidFill>
              <a:srgbClr val="2A2A2E"/>
            </a:solidFill>
            <a:prstDash val="solid"/>
          </a:ln>
        </p:spPr>
      </p:sp>
      <p:sp>
        <p:nvSpPr>
          <p:cNvPr id="5" name="Text 3"/>
          <p:cNvSpPr txBox="1"/>
          <p:nvPr/>
        </p:nvSpPr>
        <p:spPr>
          <a:xfrm>
            <a:off x="960120" y="2377440"/>
            <a:ext cx="4754880" cy="320040"/>
          </a:xfrm>
          <a:prstGeom prst="rect">
            <a:avLst/>
          </a:prstGeom>
          <a:noFill/>
          <a:ln/>
        </p:spPr>
        <p:txBody>
          <a:bodyPr wrap="square" lIns="0" tIns="0" rIns="0" bIns="0" rtlCol="0" anchor="ctr"/>
          <a:lstStyle/>
          <a:p>
            <a:pPr indent="0" marL="0">
              <a:buNone/>
            </a:pPr>
            <a:r>
              <a:rPr lang="en-US" sz="1050" spc="160" kern="0" dirty="0">
                <a:solidFill>
                  <a:srgbClr val="FFD400"/>
                </a:solidFill>
                <a:latin typeface="Courier New" pitchFamily="34" charset="0"/>
                <a:ea typeface="Courier New" pitchFamily="34" charset="-122"/>
                <a:cs typeface="Courier New" pitchFamily="34" charset="-120"/>
              </a:rPr>
              <a:t>BUILT</a:t>
            </a:r>
            <a:endParaRPr lang="en-US" sz="1050" dirty="0"/>
          </a:p>
        </p:txBody>
      </p:sp>
      <p:sp>
        <p:nvSpPr>
          <p:cNvPr id="6" name="Text 4"/>
          <p:cNvSpPr txBox="1"/>
          <p:nvPr/>
        </p:nvSpPr>
        <p:spPr>
          <a:xfrm>
            <a:off x="960120" y="2834640"/>
            <a:ext cx="4754880" cy="228600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10 systems shipped, six with measured figures. SafetyFirst predicts incidents 7 days ahead. Glaucon cut research prep 60%.</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80-lead outbound engine live across 19 accounts, with verified triggers and a full sequence.</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Working capability across edge AI, vision, IIoT and applied ML. Real deployments on IBM Watson, Google ADK and LangGraph.</a:t>
            </a:r>
            <a:endParaRPr lang="en-US" sz="1200" dirty="0"/>
          </a:p>
        </p:txBody>
      </p:sp>
      <p:sp>
        <p:nvSpPr>
          <p:cNvPr id="7" name="Shape 5"/>
          <p:cNvSpPr/>
          <p:nvPr/>
        </p:nvSpPr>
        <p:spPr>
          <a:xfrm>
            <a:off x="6172200" y="2148840"/>
            <a:ext cx="5303520" cy="3200400"/>
          </a:xfrm>
          <a:prstGeom prst="rect">
            <a:avLst/>
          </a:prstGeom>
          <a:solidFill>
            <a:srgbClr val="1C1C20"/>
          </a:solidFill>
          <a:ln w="9525">
            <a:solidFill>
              <a:srgbClr val="2A2A2E"/>
            </a:solidFill>
            <a:prstDash val="solid"/>
          </a:ln>
        </p:spPr>
      </p:sp>
      <p:sp>
        <p:nvSpPr>
          <p:cNvPr id="8" name="Text 6"/>
          <p:cNvSpPr txBox="1"/>
          <p:nvPr/>
        </p:nvSpPr>
        <p:spPr>
          <a:xfrm>
            <a:off x="6446520" y="2377440"/>
            <a:ext cx="4754880" cy="320040"/>
          </a:xfrm>
          <a:prstGeom prst="rect">
            <a:avLst/>
          </a:prstGeom>
          <a:noFill/>
          <a:ln/>
        </p:spPr>
        <p:txBody>
          <a:bodyPr wrap="square" lIns="0" tIns="0" rIns="0" bIns="0" rtlCol="0" anchor="ctr"/>
          <a:lstStyle/>
          <a:p>
            <a:pPr indent="0" marL="0">
              <a:buNone/>
            </a:pPr>
            <a:r>
              <a:rPr lang="en-US" sz="1050" spc="160" kern="0" dirty="0">
                <a:solidFill>
                  <a:srgbClr val="FFD400"/>
                </a:solidFill>
                <a:latin typeface="Courier New" pitchFamily="34" charset="0"/>
                <a:ea typeface="Courier New" pitchFamily="34" charset="-122"/>
                <a:cs typeface="Courier New" pitchFamily="34" charset="-120"/>
              </a:rPr>
              <a:t>NOT YET</a:t>
            </a:r>
            <a:endParaRPr lang="en-US" sz="1050" dirty="0"/>
          </a:p>
        </p:txBody>
      </p:sp>
      <p:sp>
        <p:nvSpPr>
          <p:cNvPr id="9" name="Text 7"/>
          <p:cNvSpPr txBox="1"/>
          <p:nvPr/>
        </p:nvSpPr>
        <p:spPr>
          <a:xfrm>
            <a:off x="6446520" y="2834640"/>
            <a:ext cx="4754880" cy="2286000"/>
          </a:xfrm>
          <a:prstGeom prst="rect">
            <a:avLst/>
          </a:prstGeom>
          <a:noFill/>
          <a:ln/>
        </p:spPr>
        <p:txBody>
          <a:bodyPr wrap="square" lIns="0" tIns="0" rIns="0" bIns="0" rtlCol="0" anchor="t"/>
          <a:lstStyle/>
          <a:p>
            <a:pPr indent="0" marL="0">
              <a:lnSpc>
                <a:spcPts val="1800"/>
              </a:lnSpc>
              <a:buNone/>
            </a:pPr>
            <a:r>
              <a:rPr lang="en-US" sz="1200" dirty="0">
                <a:solidFill>
                  <a:srgbClr val="9D9D97"/>
                </a:solidFill>
                <a:latin typeface="Arial" pitchFamily="34" charset="0"/>
                <a:ea typeface="Arial" pitchFamily="34" charset="-122"/>
                <a:cs typeface="Arial" pitchFamily="34" charset="-120"/>
              </a:rPr>
              <a:t>Zero paying clients. The ten systems are our own builds and we do not present them as client work.</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Zero revenue. First sprints not yet signed.</a:t>
            </a:r>
            <a:endParaRPr lang="en-US" sz="1200" dirty="0"/>
          </a:p>
          <a:p>
            <a:pPr indent="0" marL="0">
              <a:lnSpc>
                <a:spcPts val="1800"/>
              </a:lnSpc>
              <a:buNone/>
            </a:pPr>
            <a:endParaRPr lang="en-US" sz="1200" dirty="0"/>
          </a:p>
          <a:p>
            <a:pPr indent="0" marL="0">
              <a:lnSpc>
                <a:spcPts val="1800"/>
              </a:lnSpc>
              <a:buNone/>
            </a:pPr>
            <a:r>
              <a:rPr lang="en-US" sz="1200" dirty="0">
                <a:solidFill>
                  <a:srgbClr val="9D9D97"/>
                </a:solidFill>
                <a:latin typeface="Arial" pitchFamily="34" charset="0"/>
                <a:ea typeface="Arial" pitchFamily="34" charset="-122"/>
                <a:cs typeface="Arial" pitchFamily="34" charset="-120"/>
              </a:rPr>
              <a:t>No case study. The first one is the single highest-value asset we can produce, and it is the reason the first three engagements are priced at cost.</a:t>
            </a:r>
            <a:endParaRPr lang="en-US" sz="1200" dirty="0"/>
          </a:p>
        </p:txBody>
      </p:sp>
      <p:sp>
        <p:nvSpPr>
          <p:cNvPr id="10" name="Text 8"/>
          <p:cNvSpPr txBox="1"/>
          <p:nvPr/>
        </p:nvSpPr>
        <p:spPr>
          <a:xfrm>
            <a:off x="685800" y="5577840"/>
            <a:ext cx="10515600" cy="548640"/>
          </a:xfrm>
          <a:prstGeom prst="rect">
            <a:avLst/>
          </a:prstGeom>
          <a:noFill/>
          <a:ln/>
        </p:spPr>
        <p:txBody>
          <a:bodyPr wrap="square" lIns="0" tIns="0" rIns="0" bIns="0" rtlCol="0" anchor="t"/>
          <a:lstStyle/>
          <a:p>
            <a:pPr indent="0" marL="0">
              <a:lnSpc>
                <a:spcPts val="2250"/>
              </a:lnSpc>
              <a:buNone/>
            </a:pPr>
            <a:r>
              <a:rPr lang="en-US" sz="1500" dirty="0">
                <a:solidFill>
                  <a:srgbClr val="9D9D97"/>
                </a:solidFill>
                <a:latin typeface="Arial" pitchFamily="34" charset="0"/>
                <a:ea typeface="Arial" pitchFamily="34" charset="-122"/>
                <a:cs typeface="Arial" pitchFamily="34" charset="-120"/>
              </a:rPr>
              <a:t>We would rather show you this slide than have you find it later.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10   /   NEXT 12 MONTHS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392"/>
              </a:lnSpc>
              <a:buNone/>
            </a:pPr>
            <a:r>
              <a:rPr lang="en-US" sz="3200" b="1" dirty="0">
                <a:solidFill>
                  <a:srgbClr val="EDEDEA"/>
                </a:solidFill>
                <a:latin typeface="Arial" pitchFamily="34" charset="0"/>
                <a:ea typeface="Arial" pitchFamily="34" charset="-122"/>
                <a:cs typeface="Arial" pitchFamily="34" charset="-120"/>
              </a:rPr>
              <a:t>Two sprints, one case study, then price power.</a:t>
            </a:r>
            <a:endParaRPr lang="en-US" sz="3200" dirty="0"/>
          </a:p>
        </p:txBody>
      </p:sp>
      <p:sp>
        <p:nvSpPr>
          <p:cNvPr id="4" name="Shape 2"/>
          <p:cNvSpPr/>
          <p:nvPr/>
        </p:nvSpPr>
        <p:spPr>
          <a:xfrm>
            <a:off x="685800" y="2194560"/>
            <a:ext cx="3474720" cy="2377440"/>
          </a:xfrm>
          <a:prstGeom prst="rect">
            <a:avLst/>
          </a:prstGeom>
          <a:solidFill>
            <a:srgbClr val="141416"/>
          </a:solidFill>
          <a:ln w="9525">
            <a:solidFill>
              <a:srgbClr val="2A2A2E"/>
            </a:solidFill>
            <a:prstDash val="solid"/>
          </a:ln>
        </p:spPr>
      </p:sp>
      <p:sp>
        <p:nvSpPr>
          <p:cNvPr id="5" name="Shape 3"/>
          <p:cNvSpPr/>
          <p:nvPr/>
        </p:nvSpPr>
        <p:spPr>
          <a:xfrm>
            <a:off x="923544" y="2423160"/>
            <a:ext cx="384048" cy="384048"/>
          </a:xfrm>
          <a:prstGeom prst="rect">
            <a:avLst/>
          </a:prstGeom>
          <a:solidFill>
            <a:srgbClr val="FFD400"/>
          </a:solidFill>
          <a:ln w="6350">
            <a:solidFill>
              <a:srgbClr val="FFD400"/>
            </a:solidFill>
            <a:prstDash val="solid"/>
          </a:ln>
        </p:spPr>
      </p:sp>
      <p:sp>
        <p:nvSpPr>
          <p:cNvPr id="6" name="Text 4"/>
          <p:cNvSpPr txBox="1"/>
          <p:nvPr/>
        </p:nvSpPr>
        <p:spPr>
          <a:xfrm>
            <a:off x="923544" y="242316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01</a:t>
            </a:r>
            <a:endParaRPr lang="en-US" sz="1300" dirty="0"/>
          </a:p>
        </p:txBody>
      </p:sp>
      <p:sp>
        <p:nvSpPr>
          <p:cNvPr id="7" name="Text 5"/>
          <p:cNvSpPr txBox="1"/>
          <p:nvPr/>
        </p:nvSpPr>
        <p:spPr>
          <a:xfrm>
            <a:off x="923544" y="2971800"/>
            <a:ext cx="301752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DAYS 1 TO 90</a:t>
            </a:r>
            <a:endParaRPr lang="en-US" sz="1000" dirty="0"/>
          </a:p>
        </p:txBody>
      </p:sp>
      <p:sp>
        <p:nvSpPr>
          <p:cNvPr id="8" name="Text 6"/>
          <p:cNvSpPr txBox="1"/>
          <p:nvPr/>
        </p:nvSpPr>
        <p:spPr>
          <a:xfrm>
            <a:off x="923544" y="3337560"/>
            <a:ext cx="3017520" cy="109728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2 paid sprints, 1 written case study. Priced at or below cost, deliberately, to buy the reference.</a:t>
            </a:r>
            <a:endParaRPr lang="en-US" sz="1200" dirty="0"/>
          </a:p>
        </p:txBody>
      </p:sp>
      <p:sp>
        <p:nvSpPr>
          <p:cNvPr id="9" name="Shape 7"/>
          <p:cNvSpPr/>
          <p:nvPr/>
        </p:nvSpPr>
        <p:spPr>
          <a:xfrm>
            <a:off x="4343400" y="2194560"/>
            <a:ext cx="3474720" cy="2377440"/>
          </a:xfrm>
          <a:prstGeom prst="rect">
            <a:avLst/>
          </a:prstGeom>
          <a:solidFill>
            <a:srgbClr val="141416"/>
          </a:solidFill>
          <a:ln w="9525">
            <a:solidFill>
              <a:srgbClr val="2A2A2E"/>
            </a:solidFill>
            <a:prstDash val="solid"/>
          </a:ln>
        </p:spPr>
      </p:sp>
      <p:sp>
        <p:nvSpPr>
          <p:cNvPr id="10" name="Shape 8"/>
          <p:cNvSpPr/>
          <p:nvPr/>
        </p:nvSpPr>
        <p:spPr>
          <a:xfrm>
            <a:off x="4581144" y="2423160"/>
            <a:ext cx="384048" cy="384048"/>
          </a:xfrm>
          <a:prstGeom prst="rect">
            <a:avLst/>
          </a:prstGeom>
          <a:solidFill>
            <a:srgbClr val="FFD400"/>
          </a:solidFill>
          <a:ln w="6350">
            <a:solidFill>
              <a:srgbClr val="FFD400"/>
            </a:solidFill>
            <a:prstDash val="solid"/>
          </a:ln>
        </p:spPr>
      </p:sp>
      <p:sp>
        <p:nvSpPr>
          <p:cNvPr id="11" name="Text 9"/>
          <p:cNvSpPr txBox="1"/>
          <p:nvPr/>
        </p:nvSpPr>
        <p:spPr>
          <a:xfrm>
            <a:off x="4581144" y="242316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02</a:t>
            </a:r>
            <a:endParaRPr lang="en-US" sz="1300" dirty="0"/>
          </a:p>
        </p:txBody>
      </p:sp>
      <p:sp>
        <p:nvSpPr>
          <p:cNvPr id="12" name="Text 10"/>
          <p:cNvSpPr txBox="1"/>
          <p:nvPr/>
        </p:nvSpPr>
        <p:spPr>
          <a:xfrm>
            <a:off x="4581144" y="2971800"/>
            <a:ext cx="301752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MONTHS 4 TO 9</a:t>
            </a:r>
            <a:endParaRPr lang="en-US" sz="1000" dirty="0"/>
          </a:p>
        </p:txBody>
      </p:sp>
      <p:sp>
        <p:nvSpPr>
          <p:cNvPr id="13" name="Text 11"/>
          <p:cNvSpPr txBox="1"/>
          <p:nvPr/>
        </p:nvSpPr>
        <p:spPr>
          <a:xfrm>
            <a:off x="4581144" y="3337560"/>
            <a:ext cx="3017520" cy="109728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Cluster compounding. The first reference converts neighbours in the same estate. Price rises toward the top of the band.</a:t>
            </a:r>
            <a:endParaRPr lang="en-US" sz="1200" dirty="0"/>
          </a:p>
        </p:txBody>
      </p:sp>
      <p:sp>
        <p:nvSpPr>
          <p:cNvPr id="14" name="Shape 12"/>
          <p:cNvSpPr/>
          <p:nvPr/>
        </p:nvSpPr>
        <p:spPr>
          <a:xfrm>
            <a:off x="8001000" y="2194560"/>
            <a:ext cx="3474720" cy="2377440"/>
          </a:xfrm>
          <a:prstGeom prst="rect">
            <a:avLst/>
          </a:prstGeom>
          <a:solidFill>
            <a:srgbClr val="141416"/>
          </a:solidFill>
          <a:ln w="9525">
            <a:solidFill>
              <a:srgbClr val="2A2A2E"/>
            </a:solidFill>
            <a:prstDash val="solid"/>
          </a:ln>
        </p:spPr>
      </p:sp>
      <p:sp>
        <p:nvSpPr>
          <p:cNvPr id="15" name="Shape 13"/>
          <p:cNvSpPr/>
          <p:nvPr/>
        </p:nvSpPr>
        <p:spPr>
          <a:xfrm>
            <a:off x="8238744" y="2423160"/>
            <a:ext cx="384048" cy="384048"/>
          </a:xfrm>
          <a:prstGeom prst="rect">
            <a:avLst/>
          </a:prstGeom>
          <a:solidFill>
            <a:srgbClr val="FFD400"/>
          </a:solidFill>
          <a:ln w="6350">
            <a:solidFill>
              <a:srgbClr val="FFD400"/>
            </a:solidFill>
            <a:prstDash val="solid"/>
          </a:ln>
        </p:spPr>
      </p:sp>
      <p:sp>
        <p:nvSpPr>
          <p:cNvPr id="16" name="Text 14"/>
          <p:cNvSpPr txBox="1"/>
          <p:nvPr/>
        </p:nvSpPr>
        <p:spPr>
          <a:xfrm>
            <a:off x="8238744" y="2423160"/>
            <a:ext cx="384048" cy="384048"/>
          </a:xfrm>
          <a:prstGeom prst="rect">
            <a:avLst/>
          </a:prstGeom>
          <a:noFill/>
          <a:ln/>
        </p:spPr>
        <p:txBody>
          <a:bodyPr wrap="square" lIns="0" tIns="0" rIns="0" bIns="0" rtlCol="0" anchor="ctr"/>
          <a:lstStyle/>
          <a:p>
            <a:pPr algn="ctr" indent="0" marL="0">
              <a:buNone/>
            </a:pPr>
            <a:r>
              <a:rPr lang="en-US" sz="1300" b="1" dirty="0">
                <a:solidFill>
                  <a:srgbClr val="0B0B0C"/>
                </a:solidFill>
                <a:latin typeface="Courier New" pitchFamily="34" charset="0"/>
                <a:ea typeface="Courier New" pitchFamily="34" charset="-122"/>
                <a:cs typeface="Courier New" pitchFamily="34" charset="-120"/>
              </a:rPr>
              <a:t>03</a:t>
            </a:r>
            <a:endParaRPr lang="en-US" sz="1300" dirty="0"/>
          </a:p>
        </p:txBody>
      </p:sp>
      <p:sp>
        <p:nvSpPr>
          <p:cNvPr id="17" name="Text 15"/>
          <p:cNvSpPr txBox="1"/>
          <p:nvPr/>
        </p:nvSpPr>
        <p:spPr>
          <a:xfrm>
            <a:off x="8238744" y="2971800"/>
            <a:ext cx="3017520" cy="320040"/>
          </a:xfrm>
          <a:prstGeom prst="rect">
            <a:avLst/>
          </a:prstGeom>
          <a:noFill/>
          <a:ln/>
        </p:spPr>
        <p:txBody>
          <a:bodyPr wrap="square" lIns="0" tIns="0" rIns="0" bIns="0" rtlCol="0" anchor="ctr"/>
          <a:lstStyle/>
          <a:p>
            <a:pPr indent="0" marL="0">
              <a:buNone/>
            </a:pPr>
            <a:r>
              <a:rPr lang="en-US" sz="1000" spc="140" kern="0" dirty="0">
                <a:solidFill>
                  <a:srgbClr val="FFD400"/>
                </a:solidFill>
                <a:latin typeface="Courier New" pitchFamily="34" charset="0"/>
                <a:ea typeface="Courier New" pitchFamily="34" charset="-122"/>
                <a:cs typeface="Courier New" pitchFamily="34" charset="-120"/>
              </a:rPr>
              <a:t>MONTHS 10 TO 18</a:t>
            </a:r>
            <a:endParaRPr lang="en-US" sz="1000" dirty="0"/>
          </a:p>
        </p:txBody>
      </p:sp>
      <p:sp>
        <p:nvSpPr>
          <p:cNvPr id="18" name="Text 16"/>
          <p:cNvSpPr txBox="1"/>
          <p:nvPr/>
        </p:nvSpPr>
        <p:spPr>
          <a:xfrm>
            <a:off x="8238744" y="3337560"/>
            <a:ext cx="3017520" cy="1097280"/>
          </a:xfrm>
          <a:prstGeom prst="rect">
            <a:avLst/>
          </a:prstGeom>
          <a:noFill/>
          <a:ln/>
        </p:spPr>
        <p:txBody>
          <a:bodyPr wrap="square" lIns="0" tIns="0" rIns="0" bIns="0" rtlCol="0" anchor="ctr"/>
          <a:lstStyle/>
          <a:p>
            <a:pPr indent="0" marL="0">
              <a:lnSpc>
                <a:spcPts val="1600"/>
              </a:lnSpc>
              <a:buNone/>
            </a:pPr>
            <a:r>
              <a:rPr lang="en-US" sz="1200" dirty="0">
                <a:solidFill>
                  <a:srgbClr val="9D9D97"/>
                </a:solidFill>
                <a:latin typeface="Arial" pitchFamily="34" charset="0"/>
                <a:ea typeface="Arial" pitchFamily="34" charset="-122"/>
                <a:cs typeface="Arial" pitchFamily="34" charset="-120"/>
              </a:rPr>
              <a:t>Capacity becomes the binding constraint. Hire against a proven sprint model rather than a hypothesis.</a:t>
            </a:r>
            <a:endParaRPr lang="en-US" sz="1200" dirty="0"/>
          </a:p>
        </p:txBody>
      </p:sp>
      <p:sp>
        <p:nvSpPr>
          <p:cNvPr id="19" name="Shape 17"/>
          <p:cNvSpPr/>
          <p:nvPr/>
        </p:nvSpPr>
        <p:spPr>
          <a:xfrm>
            <a:off x="685800" y="4892040"/>
            <a:ext cx="10789920" cy="1005840"/>
          </a:xfrm>
          <a:prstGeom prst="rect">
            <a:avLst/>
          </a:prstGeom>
          <a:solidFill>
            <a:srgbClr val="1C1C20"/>
          </a:solidFill>
          <a:ln w="9525">
            <a:solidFill>
              <a:srgbClr val="2A2A2E"/>
            </a:solidFill>
            <a:prstDash val="solid"/>
          </a:ln>
        </p:spPr>
      </p:sp>
      <p:sp>
        <p:nvSpPr>
          <p:cNvPr id="20" name="Text 18"/>
          <p:cNvSpPr txBox="1"/>
          <p:nvPr/>
        </p:nvSpPr>
        <p:spPr>
          <a:xfrm>
            <a:off x="1005840" y="5074920"/>
            <a:ext cx="10149840" cy="640080"/>
          </a:xfrm>
          <a:prstGeom prst="rect">
            <a:avLst/>
          </a:prstGeom>
          <a:noFill/>
          <a:ln/>
        </p:spPr>
        <p:txBody>
          <a:bodyPr wrap="square" lIns="0" tIns="0" rIns="0" bIns="0" rtlCol="0" anchor="ctr"/>
          <a:lstStyle/>
          <a:p>
            <a:pPr indent="0" marL="0">
              <a:buNone/>
            </a:pPr>
            <a:r>
              <a:rPr lang="en-US" sz="1400" b="1" dirty="0">
                <a:solidFill>
                  <a:srgbClr val="EDEDEA"/>
                </a:solidFill>
                <a:latin typeface="Arial" pitchFamily="34" charset="0"/>
                <a:ea typeface="Arial" pitchFamily="34" charset="-122"/>
                <a:cs typeface="Arial" pitchFamily="34" charset="-120"/>
              </a:rPr>
              <a:t>The only number that matters in the next 90 days is two paid sprints and one case study. Not pipeline, not meetings, not conversations.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566928"/>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11   /   WHAT COULD KILL THIS</a:t>
            </a:r>
            <a:endParaRPr lang="en-US" sz="1100" dirty="0"/>
          </a:p>
        </p:txBody>
      </p:sp>
      <p:sp>
        <p:nvSpPr>
          <p:cNvPr id="3" name="Text 1"/>
          <p:cNvSpPr txBox="1"/>
          <p:nvPr/>
        </p:nvSpPr>
        <p:spPr>
          <a:xfrm>
            <a:off x="685800" y="960120"/>
            <a:ext cx="10607040" cy="1371600"/>
          </a:xfrm>
          <a:prstGeom prst="rect">
            <a:avLst/>
          </a:prstGeom>
          <a:noFill/>
          <a:ln/>
        </p:spPr>
        <p:txBody>
          <a:bodyPr wrap="square" lIns="0" tIns="0" rIns="0" bIns="0" rtlCol="0" anchor="t"/>
          <a:lstStyle/>
          <a:p>
            <a:pPr indent="0" marL="0">
              <a:lnSpc>
                <a:spcPts val="3604"/>
              </a:lnSpc>
              <a:buNone/>
            </a:pPr>
            <a:r>
              <a:rPr lang="en-US" sz="3400" b="1" dirty="0">
                <a:solidFill>
                  <a:srgbClr val="EDEDEA"/>
                </a:solidFill>
                <a:latin typeface="Arial" pitchFamily="34" charset="0"/>
                <a:ea typeface="Arial" pitchFamily="34" charset="-122"/>
                <a:cs typeface="Arial" pitchFamily="34" charset="-120"/>
              </a:rPr>
              <a:t>The four we take seriously.</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789920" cy="914400"/>
        </p:xfrm>
        <a:graphic>
          <a:graphicData uri="http://schemas.openxmlformats.org/drawingml/2006/table">
            <a:tbl>
              <a:tblPr/>
              <a:tblGrid>
                <a:gridCol w="2194560"/>
                <a:gridCol w="4572000"/>
                <a:gridCol w="4023360"/>
              </a:tblGrid>
              <a:tr h="310896">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RISK</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WHY IT IS REAL</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950" b="1" dirty="0">
                          <a:solidFill>
                            <a:srgbClr val="6B6B65"/>
                          </a:solidFill>
                          <a:latin typeface="Courier New" pitchFamily="34" charset="0"/>
                          <a:ea typeface="Courier New" pitchFamily="34" charset="-122"/>
                          <a:cs typeface="Courier New" pitchFamily="34" charset="-120"/>
                        </a:rPr>
                        <a:t>WHAT WE DO ABOUT IT</a:t>
                      </a:r>
                      <a:endParaRPr lang="en-US" sz="950" dirty="0">
                        <a:latin typeface="Courier New" charset="0"/>
                        <a:ea typeface="Courier New" charset="0"/>
                        <a:cs typeface="Courier New"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Capacity ceiling</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Two engineers is 6 to 8 sprints a year. Revenue cannot compound without headcount.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Accepted. It is the reason for raising.</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A missed end date</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The fixed deadline is the one promise competitors structurally cannot make. Missing it once removes our only differentiator.</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Ship the smaller thing on time. Never extend a sprint.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No repeatability</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Bespoke work does not compound. Every sale is a fresh explanation and margin stays flat.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Watched deliberately. If a build repeats across three sprints, we narrow into it.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r h="310896">
                <a:tc>
                  <a:txBody>
                    <a:bodyPr/>
                    <a:lstStyle/>
                    <a:p>
                      <a:pPr indent="0" marL="0">
                        <a:buNone/>
                      </a:pPr>
                      <a:r>
                        <a:rPr lang="en-US" sz="1150" b="1" dirty="0">
                          <a:solidFill>
                            <a:srgbClr val="EDEDEA"/>
                          </a:solidFill>
                          <a:latin typeface="Arial" pitchFamily="34" charset="0"/>
                          <a:ea typeface="Arial" pitchFamily="34" charset="-122"/>
                          <a:cs typeface="Arial" pitchFamily="34" charset="-120"/>
                        </a:rPr>
                        <a:t>Procurement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9D9D97"/>
                          </a:solidFill>
                          <a:latin typeface="Arial" pitchFamily="34" charset="0"/>
                          <a:ea typeface="Arial" pitchFamily="34" charset="-122"/>
                          <a:cs typeface="Arial" pitchFamily="34" charset="-120"/>
                        </a:rPr>
                        <a:t>Zero logos is disqualifying inside a formal tender before price is even discussed.</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c>
                  <a:txBody>
                    <a:bodyPr/>
                    <a:lstStyle/>
                    <a:p>
                      <a:pPr indent="0" marL="0">
                        <a:buNone/>
                      </a:pPr>
                      <a:r>
                        <a:rPr lang="en-US" sz="1150" dirty="0">
                          <a:solidFill>
                            <a:srgbClr val="FFD400"/>
                          </a:solidFill>
                          <a:latin typeface="Arial" pitchFamily="34" charset="0"/>
                          <a:ea typeface="Arial" pitchFamily="34" charset="-122"/>
                          <a:cs typeface="Arial" pitchFamily="34" charset="-120"/>
                        </a:rPr>
                        <a:t>Sell to plant heads at a price inside their own authority. Refuse deals that reach procurement.</a:t>
                      </a:r>
                      <a:endParaRPr lang="en-US" sz="1150" dirty="0">
                        <a:latin typeface="Arial" charset="0"/>
                        <a:ea typeface="Arial" charset="0"/>
                        <a:cs typeface="Arial" charset="0"/>
                      </a:endParaRPr>
                    </a:p>
                  </a:txBody>
                  <a:tcPr marL="101600" marR="101600" marT="101600" marB="101600" anchor="t">
                    <a:lnL w="9525" cap="flat" cmpd="sng" algn="ctr">
                      <a:solidFill>
                        <a:srgbClr val="2A2A2E"/>
                      </a:solidFill>
                      <a:prstDash val="solid"/>
                      <a:round/>
                      <a:headEnd type="none" w="med" len="med"/>
                      <a:tailEnd type="none" w="med" len="med"/>
                    </a:lnL>
                    <a:lnR w="9525" cap="flat" cmpd="sng" algn="ctr">
                      <a:solidFill>
                        <a:srgbClr val="2A2A2E"/>
                      </a:solidFill>
                      <a:prstDash val="solid"/>
                      <a:round/>
                      <a:headEnd type="none" w="med" len="med"/>
                      <a:tailEnd type="none" w="med" len="med"/>
                    </a:lnR>
                    <a:lnT w="9525" cap="flat" cmpd="sng" algn="ctr">
                      <a:solidFill>
                        <a:srgbClr val="2A2A2E"/>
                      </a:solidFill>
                      <a:prstDash val="solid"/>
                      <a:round/>
                      <a:headEnd type="none" w="med" len="med"/>
                      <a:tailEnd type="none" w="med" len="med"/>
                    </a:lnT>
                    <a:lnB w="9525" cap="flat" cmpd="sng" algn="ctr">
                      <a:solidFill>
                        <a:srgbClr val="2A2A2E"/>
                      </a:solidFill>
                      <a:prstDash val="solid"/>
                      <a:round/>
                      <a:headEnd type="none" w="med" len="med"/>
                      <a:tailEnd type="none" w="med" len="med"/>
                    </a:lnB>
                    <a:solidFill>
                      <a:srgbClr val="0B0B0C"/>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C"/>
        </a:solidFill>
      </p:bgPr>
    </p:bg>
    <p:spTree>
      <p:nvGrpSpPr>
        <p:cNvPr id="1" name=""/>
        <p:cNvGrpSpPr/>
        <p:nvPr/>
      </p:nvGrpSpPr>
      <p:grpSpPr>
        <a:xfrm>
          <a:off x="0" y="0"/>
          <a:ext cx="0" cy="0"/>
          <a:chOff x="0" y="0"/>
          <a:chExt cx="0" cy="0"/>
        </a:xfrm>
      </p:grpSpPr>
      <p:sp>
        <p:nvSpPr>
          <p:cNvPr id="2" name="Text 0"/>
          <p:cNvSpPr txBox="1"/>
          <p:nvPr/>
        </p:nvSpPr>
        <p:spPr>
          <a:xfrm>
            <a:off x="685800" y="1280160"/>
            <a:ext cx="10789920" cy="256032"/>
          </a:xfrm>
          <a:prstGeom prst="rect">
            <a:avLst/>
          </a:prstGeom>
          <a:noFill/>
          <a:ln/>
        </p:spPr>
        <p:txBody>
          <a:bodyPr wrap="square" lIns="0" tIns="0" rIns="0" bIns="0" rtlCol="0" anchor="ctr"/>
          <a:lstStyle/>
          <a:p>
            <a:pPr indent="0" marL="0">
              <a:buNone/>
            </a:pPr>
            <a:r>
              <a:rPr lang="en-US" sz="1100" spc="220" kern="0" dirty="0">
                <a:solidFill>
                  <a:srgbClr val="6B6B65"/>
                </a:solidFill>
                <a:latin typeface="Courier New" pitchFamily="34" charset="0"/>
                <a:ea typeface="Courier New" pitchFamily="34" charset="-122"/>
                <a:cs typeface="Courier New" pitchFamily="34" charset="-120"/>
              </a:rPr>
              <a:t>12   /   THE ASK</a:t>
            </a:r>
            <a:endParaRPr lang="en-US" sz="1100" dirty="0"/>
          </a:p>
        </p:txBody>
      </p:sp>
      <p:sp>
        <p:nvSpPr>
          <p:cNvPr id="3" name="Text 1"/>
          <p:cNvSpPr txBox="1"/>
          <p:nvPr/>
        </p:nvSpPr>
        <p:spPr>
          <a:xfrm>
            <a:off x="685800" y="1783080"/>
            <a:ext cx="10424160" cy="1371600"/>
          </a:xfrm>
          <a:prstGeom prst="rect">
            <a:avLst/>
          </a:prstGeom>
          <a:noFill/>
          <a:ln/>
        </p:spPr>
        <p:txBody>
          <a:bodyPr wrap="square" lIns="0" tIns="0" rIns="0" bIns="0" rtlCol="0" anchor="t"/>
          <a:lstStyle/>
          <a:p>
            <a:pPr indent="0" marL="0">
              <a:lnSpc>
                <a:spcPts val="4240"/>
              </a:lnSpc>
              <a:buNone/>
            </a:pPr>
            <a:r>
              <a:rPr lang="en-US" sz="4000" b="1" dirty="0">
                <a:solidFill>
                  <a:srgbClr val="EDEDEA"/>
                </a:solidFill>
                <a:latin typeface="Arial" pitchFamily="34" charset="0"/>
                <a:ea typeface="Arial" pitchFamily="34" charset="-122"/>
                <a:cs typeface="Arial" pitchFamily="34" charset="-120"/>
              </a:rPr>
              <a:t>Engineers, and the runway to buy</a:t>
            </a:r>
            <a:endParaRPr lang="en-US" sz="4000" dirty="0"/>
          </a:p>
          <a:p>
            <a:pPr indent="0" marL="0">
              <a:lnSpc>
                <a:spcPts val="4240"/>
              </a:lnSpc>
              <a:buNone/>
            </a:pPr>
            <a:r>
              <a:rPr lang="en-US" sz="4000" b="1" dirty="0">
                <a:solidFill>
                  <a:srgbClr val="EDEDEA"/>
                </a:solidFill>
                <a:latin typeface="Arial" pitchFamily="34" charset="0"/>
                <a:ea typeface="Arial" pitchFamily="34" charset="-122"/>
                <a:cs typeface="Arial" pitchFamily="34" charset="-120"/>
              </a:rPr>
              <a:t>the first three references.</a:t>
            </a:r>
            <a:endParaRPr lang="en-US" sz="4000" dirty="0"/>
          </a:p>
        </p:txBody>
      </p:sp>
      <p:sp>
        <p:nvSpPr>
          <p:cNvPr id="4" name="Text 2"/>
          <p:cNvSpPr txBox="1"/>
          <p:nvPr/>
        </p:nvSpPr>
        <p:spPr>
          <a:xfrm>
            <a:off x="685800" y="3794760"/>
            <a:ext cx="8595360" cy="1280160"/>
          </a:xfrm>
          <a:prstGeom prst="rect">
            <a:avLst/>
          </a:prstGeom>
          <a:noFill/>
          <a:ln/>
        </p:spPr>
        <p:txBody>
          <a:bodyPr wrap="square" lIns="0" tIns="0" rIns="0" bIns="0" rtlCol="0" anchor="t"/>
          <a:lstStyle/>
          <a:p>
            <a:pPr indent="0" marL="0">
              <a:lnSpc>
                <a:spcPts val="2250"/>
              </a:lnSpc>
              <a:buNone/>
            </a:pPr>
            <a:r>
              <a:rPr lang="en-US" sz="1500" dirty="0">
                <a:solidFill>
                  <a:srgbClr val="9D9D97"/>
                </a:solidFill>
                <a:latin typeface="Arial" pitchFamily="34" charset="0"/>
                <a:ea typeface="Arial" pitchFamily="34" charset="-122"/>
                <a:cs typeface="Arial" pitchFamily="34" charset="-120"/>
              </a:rPr>
              <a:t>Capacity is the ceiling and proof is the unlock. Funding buys both: engineers to raise annual sprint capacity beyond eight, and the runway to price the first three engagements at cost in exchange for the case studies that let us charge properly for the next thirty.</a:t>
            </a:r>
            <a:endParaRPr lang="en-US" sz="1500" dirty="0"/>
          </a:p>
        </p:txBody>
      </p:sp>
      <p:sp>
        <p:nvSpPr>
          <p:cNvPr id="5" name="Text 3"/>
          <p:cNvSpPr txBox="1"/>
          <p:nvPr/>
        </p:nvSpPr>
        <p:spPr>
          <a:xfrm>
            <a:off x="685800" y="5440680"/>
            <a:ext cx="8229600" cy="365760"/>
          </a:xfrm>
          <a:prstGeom prst="rect">
            <a:avLst/>
          </a:prstGeom>
          <a:noFill/>
          <a:ln/>
        </p:spPr>
        <p:txBody>
          <a:bodyPr wrap="square" lIns="0" tIns="0" rIns="0" bIns="0" rtlCol="0" anchor="ctr"/>
          <a:lstStyle/>
          <a:p>
            <a:pPr indent="0" marL="0">
              <a:buNone/>
            </a:pPr>
            <a:r>
              <a:rPr lang="en-US" sz="1500" b="1" dirty="0">
                <a:solidFill>
                  <a:srgbClr val="EDEDEA"/>
                </a:solidFill>
                <a:latin typeface="Arial" pitchFamily="34" charset="0"/>
                <a:ea typeface="Arial" pitchFamily="34" charset="-122"/>
                <a:cs typeface="Arial" pitchFamily="34" charset="-120"/>
              </a:rPr>
              <a:t>Krunal Chavda   /   Founder, Zester Product Studio</a:t>
            </a:r>
            <a:endParaRPr lang="en-US" sz="1500" dirty="0"/>
          </a:p>
        </p:txBody>
      </p:sp>
      <p:sp>
        <p:nvSpPr>
          <p:cNvPr id="6" name="Text 4"/>
          <p:cNvSpPr txBox="1"/>
          <p:nvPr/>
        </p:nvSpPr>
        <p:spPr>
          <a:xfrm>
            <a:off x="685800" y="5852160"/>
            <a:ext cx="8229600" cy="320040"/>
          </a:xfrm>
          <a:prstGeom prst="rect">
            <a:avLst/>
          </a:prstGeom>
          <a:noFill/>
          <a:ln/>
        </p:spPr>
        <p:txBody>
          <a:bodyPr wrap="square" lIns="0" tIns="0" rIns="0" bIns="0" rtlCol="0" anchor="ctr"/>
          <a:lstStyle/>
          <a:p>
            <a:pPr indent="0" marL="0">
              <a:buNone/>
            </a:pPr>
            <a:r>
              <a:rPr lang="en-US" sz="1200" dirty="0">
                <a:solidFill>
                  <a:srgbClr val="FFD400"/>
                </a:solidFill>
                <a:latin typeface="Courier New" pitchFamily="34" charset="0"/>
                <a:ea typeface="Courier New" pitchFamily="34" charset="-122"/>
                <a:cs typeface="Courier New" pitchFamily="34" charset="-120"/>
              </a:rPr>
              <a:t>partnerships@zesterproductstudio.com   /   zesterproductstudio.com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Zester Investor Deck</dc:title>
  <dc:subject>PptxGenJS Presentation</dc:subject>
  <dc:creator>Zester Product Studio</dc:creator>
  <cp:lastModifiedBy>Zester Product Studio</cp:lastModifiedBy>
  <cp:revision>1</cp:revision>
  <dcterms:created xsi:type="dcterms:W3CDTF">2026-09-05T12:18:38Z</dcterms:created>
  <dcterms:modified xsi:type="dcterms:W3CDTF">2026-09-05T12:18:38Z</dcterms:modified>
</cp:coreProperties>
</file>